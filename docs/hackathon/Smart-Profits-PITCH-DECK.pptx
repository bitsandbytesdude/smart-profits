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18288"/>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ark.png"/>
          <p:cNvPicPr>
            <a:picLocks noChangeAspect="1"/>
          </p:cNvPicPr>
          <p:nvPr/>
        </p:nvPicPr>
        <p:blipFill>
          <a:blip r:embed="rId2"/>
          <a:stretch>
            <a:fillRect/>
          </a:stretch>
        </p:blipFill>
        <p:spPr>
          <a:xfrm>
            <a:off x="502920" y="1234440"/>
            <a:ext cx="1051560" cy="1051560"/>
          </a:xfrm>
          <a:prstGeom prst="rect">
            <a:avLst/>
          </a:prstGeom>
        </p:spPr>
      </p:pic>
      <p:sp>
        <p:nvSpPr>
          <p:cNvPr id="6" name="TextBox 5"/>
          <p:cNvSpPr txBox="1"/>
          <p:nvPr/>
        </p:nvSpPr>
        <p:spPr>
          <a:xfrm>
            <a:off x="502920" y="2331720"/>
            <a:ext cx="10972800" cy="320040"/>
          </a:xfrm>
          <a:prstGeom prst="rect">
            <a:avLst/>
          </a:prstGeom>
          <a:noFill/>
        </p:spPr>
        <p:txBody>
          <a:bodyPr wrap="square" anchor="t"/>
          <a:lstStyle/>
          <a:p>
            <a:pPr algn="l"/>
            <a:r>
              <a:rPr sz="1300" b="1">
                <a:solidFill>
                  <a:srgbClr val="4FD1C5"/>
                </a:solidFill>
                <a:latin typeface="Calibri"/>
              </a:rPr>
              <a:t>GSMA MENA IGNITE OPEN GATEWAY HACKATHON  ·  PHASE 1</a:t>
            </a:r>
          </a:p>
        </p:txBody>
      </p:sp>
      <p:sp>
        <p:nvSpPr>
          <p:cNvPr id="7" name="TextBox 6"/>
          <p:cNvSpPr txBox="1"/>
          <p:nvPr/>
        </p:nvSpPr>
        <p:spPr>
          <a:xfrm>
            <a:off x="502920" y="2697480"/>
            <a:ext cx="11155680" cy="822960"/>
          </a:xfrm>
          <a:prstGeom prst="rect">
            <a:avLst/>
          </a:prstGeom>
          <a:noFill/>
        </p:spPr>
        <p:txBody>
          <a:bodyPr wrap="square" anchor="t"/>
          <a:lstStyle/>
          <a:p>
            <a:pPr algn="l"/>
            <a:r>
              <a:rPr sz="4800" b="1">
                <a:solidFill>
                  <a:srgbClr val="F8FAFC"/>
                </a:solidFill>
                <a:latin typeface="Calibri"/>
              </a:rPr>
              <a:t>Smart Profits</a:t>
            </a:r>
          </a:p>
        </p:txBody>
      </p:sp>
      <p:sp>
        <p:nvSpPr>
          <p:cNvPr id="8" name="TextBox 7"/>
          <p:cNvSpPr txBox="1"/>
          <p:nvPr/>
        </p:nvSpPr>
        <p:spPr>
          <a:xfrm>
            <a:off x="502920" y="3520440"/>
            <a:ext cx="10972800" cy="640080"/>
          </a:xfrm>
          <a:prstGeom prst="rect">
            <a:avLst/>
          </a:prstGeom>
          <a:noFill/>
        </p:spPr>
        <p:txBody>
          <a:bodyPr wrap="square" anchor="t"/>
          <a:lstStyle/>
          <a:p>
            <a:pPr algn="l"/>
            <a:r>
              <a:rPr sz="2200" b="0">
                <a:solidFill>
                  <a:srgbClr val="E8C56B"/>
                </a:solidFill>
                <a:latin typeface="Calibri"/>
              </a:rPr>
              <a:t>AI-Driven Financial Analytics &amp; Telco-Secured Merchant Platform</a:t>
            </a:r>
          </a:p>
        </p:txBody>
      </p:sp>
      <p:sp>
        <p:nvSpPr>
          <p:cNvPr id="9" name="TextBox 8"/>
          <p:cNvSpPr txBox="1"/>
          <p:nvPr/>
        </p:nvSpPr>
        <p:spPr>
          <a:xfrm>
            <a:off x="502920" y="4206240"/>
            <a:ext cx="10515600" cy="777240"/>
          </a:xfrm>
          <a:prstGeom prst="rect">
            <a:avLst/>
          </a:prstGeom>
          <a:noFill/>
        </p:spPr>
        <p:txBody>
          <a:bodyPr wrap="square" anchor="t"/>
          <a:lstStyle/>
          <a:p>
            <a:pPr algn="l"/>
            <a:r>
              <a:rPr sz="1600" b="0">
                <a:solidFill>
                  <a:srgbClr val="94A3B8"/>
                </a:solidFill>
                <a:latin typeface="Calibri"/>
              </a:rPr>
              <a:t>The merchant’s CFO in the chat. Bank-grade SIM-swap defence on the login.
CAMARA APIs via Nokia Network-as-Code. Decisions by an AI Agent — not by SMS.</a:t>
            </a:r>
          </a:p>
        </p:txBody>
      </p:sp>
      <p:sp>
        <p:nvSpPr>
          <p:cNvPr id="10" name="Rounded Rectangle 9"/>
          <p:cNvSpPr/>
          <p:nvPr/>
        </p:nvSpPr>
        <p:spPr>
          <a:xfrm>
            <a:off x="502920" y="5166360"/>
            <a:ext cx="1828800"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193792"/>
            <a:ext cx="1828800" cy="347472"/>
          </a:xfrm>
          <a:prstGeom prst="rect">
            <a:avLst/>
          </a:prstGeom>
          <a:noFill/>
        </p:spPr>
        <p:txBody>
          <a:bodyPr wrap="square" anchor="t"/>
          <a:lstStyle/>
          <a:p>
            <a:pPr algn="ctr"/>
            <a:r>
              <a:rPr sz="1200" b="1">
                <a:solidFill>
                  <a:srgbClr val="4FD1C5"/>
                </a:solidFill>
                <a:latin typeface="Calibri"/>
              </a:rPr>
              <a:t>SIM Swap</a:t>
            </a:r>
          </a:p>
        </p:txBody>
      </p:sp>
      <p:sp>
        <p:nvSpPr>
          <p:cNvPr id="12" name="Rounded Rectangle 11"/>
          <p:cNvSpPr/>
          <p:nvPr/>
        </p:nvSpPr>
        <p:spPr>
          <a:xfrm>
            <a:off x="2468880" y="5166360"/>
            <a:ext cx="1828800"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0" y="5193792"/>
            <a:ext cx="1828800" cy="347472"/>
          </a:xfrm>
          <a:prstGeom prst="rect">
            <a:avLst/>
          </a:prstGeom>
          <a:noFill/>
        </p:spPr>
        <p:txBody>
          <a:bodyPr wrap="square" anchor="t"/>
          <a:lstStyle/>
          <a:p>
            <a:pPr algn="ctr"/>
            <a:r>
              <a:rPr sz="1200" b="1">
                <a:solidFill>
                  <a:srgbClr val="4FD1C5"/>
                </a:solidFill>
                <a:latin typeface="Calibri"/>
              </a:rPr>
              <a:t>Number Verification</a:t>
            </a:r>
          </a:p>
        </p:txBody>
      </p:sp>
      <p:sp>
        <p:nvSpPr>
          <p:cNvPr id="14" name="Rounded Rectangle 13"/>
          <p:cNvSpPr/>
          <p:nvPr/>
        </p:nvSpPr>
        <p:spPr>
          <a:xfrm>
            <a:off x="4434840" y="5166360"/>
            <a:ext cx="1828800"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5193792"/>
            <a:ext cx="1828800" cy="347472"/>
          </a:xfrm>
          <a:prstGeom prst="rect">
            <a:avLst/>
          </a:prstGeom>
          <a:noFill/>
        </p:spPr>
        <p:txBody>
          <a:bodyPr wrap="square" anchor="t"/>
          <a:lstStyle/>
          <a:p>
            <a:pPr algn="ctr"/>
            <a:r>
              <a:rPr sz="1200" b="1">
                <a:solidFill>
                  <a:srgbClr val="4FD1C5"/>
                </a:solidFill>
                <a:latin typeface="Calibri"/>
              </a:rPr>
              <a:t>Location Verification</a:t>
            </a:r>
          </a:p>
        </p:txBody>
      </p:sp>
      <p:sp>
        <p:nvSpPr>
          <p:cNvPr id="16" name="Rounded Rectangle 15"/>
          <p:cNvSpPr/>
          <p:nvPr/>
        </p:nvSpPr>
        <p:spPr>
          <a:xfrm>
            <a:off x="6400800" y="5166360"/>
            <a:ext cx="1828800"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5193792"/>
            <a:ext cx="1828800" cy="347472"/>
          </a:xfrm>
          <a:prstGeom prst="rect">
            <a:avLst/>
          </a:prstGeom>
          <a:noFill/>
        </p:spPr>
        <p:txBody>
          <a:bodyPr wrap="square" anchor="t"/>
          <a:lstStyle/>
          <a:p>
            <a:pPr algn="ctr"/>
            <a:r>
              <a:rPr sz="1200" b="1">
                <a:solidFill>
                  <a:srgbClr val="4FD1C5"/>
                </a:solidFill>
                <a:latin typeface="Calibri"/>
              </a:rPr>
              <a:t>AI Agent</a:t>
            </a:r>
          </a:p>
        </p:txBody>
      </p:sp>
      <p:sp>
        <p:nvSpPr>
          <p:cNvPr id="18" name="Rounded Rectangle 17"/>
          <p:cNvSpPr/>
          <p:nvPr/>
        </p:nvSpPr>
        <p:spPr>
          <a:xfrm>
            <a:off x="8366760" y="5166360"/>
            <a:ext cx="1828800"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5193792"/>
            <a:ext cx="1828800" cy="347472"/>
          </a:xfrm>
          <a:prstGeom prst="rect">
            <a:avLst/>
          </a:prstGeom>
          <a:noFill/>
        </p:spPr>
        <p:txBody>
          <a:bodyPr wrap="square" anchor="t"/>
          <a:lstStyle/>
          <a:p>
            <a:pPr algn="ctr"/>
            <a:r>
              <a:rPr sz="1200" b="1">
                <a:solidFill>
                  <a:srgbClr val="4FD1C5"/>
                </a:solidFill>
                <a:latin typeface="Calibri"/>
              </a:rPr>
              <a:t>Theme 4</a:t>
            </a:r>
          </a:p>
        </p:txBody>
      </p:sp>
      <p:sp>
        <p:nvSpPr>
          <p:cNvPr id="20" name="TextBox 19"/>
          <p:cNvSpPr txBox="1"/>
          <p:nvPr/>
        </p:nvSpPr>
        <p:spPr>
          <a:xfrm>
            <a:off x="502920" y="5806440"/>
            <a:ext cx="10972800" cy="365760"/>
          </a:xfrm>
          <a:prstGeom prst="rect">
            <a:avLst/>
          </a:prstGeom>
          <a:noFill/>
        </p:spPr>
        <p:txBody>
          <a:bodyPr wrap="square" anchor="t"/>
          <a:lstStyle/>
          <a:p>
            <a:pPr algn="l"/>
            <a:r>
              <a:rPr sz="1400" b="0">
                <a:solidFill>
                  <a:srgbClr val="94A3B8"/>
                </a:solidFill>
                <a:latin typeface="Calibri"/>
              </a:rPr>
              <a:t>Bitsandbytesdude Software Agency  ·  Gaza / MENA  ·  August 2026</a:t>
            </a:r>
          </a:p>
        </p:txBody>
      </p:sp>
      <p:sp>
        <p:nvSpPr>
          <p:cNvPr id="21" name="TextBox 20"/>
          <p:cNvSpPr txBox="1"/>
          <p:nvPr/>
        </p:nvSpPr>
        <p:spPr>
          <a:xfrm>
            <a:off x="457200" y="6510528"/>
            <a:ext cx="7315200" cy="256032"/>
          </a:xfrm>
          <a:prstGeom prst="rect">
            <a:avLst/>
          </a:prstGeom>
          <a:noFill/>
        </p:spPr>
        <p:txBody>
          <a:bodyPr wrap="square" anchor="t"/>
          <a:lstStyle/>
          <a:p>
            <a:pPr algn="l"/>
            <a:r>
              <a:rPr sz="1100" b="0">
                <a:solidFill>
                  <a:srgbClr val="94A3B8"/>
                </a:solidFill>
                <a:latin typeface="Calibri"/>
              </a:rPr>
              <a:t>Smart Profits  ·  GSMA MENA Ignite  ·  Theme 4</a:t>
            </a:r>
          </a:p>
        </p:txBody>
      </p:sp>
      <p:sp>
        <p:nvSpPr>
          <p:cNvPr id="22" name="TextBox 21"/>
          <p:cNvSpPr txBox="1"/>
          <p:nvPr/>
        </p:nvSpPr>
        <p:spPr>
          <a:xfrm>
            <a:off x="10424160" y="6510528"/>
            <a:ext cx="1280160" cy="256032"/>
          </a:xfrm>
          <a:prstGeom prst="rect">
            <a:avLst/>
          </a:prstGeom>
          <a:noFill/>
        </p:spPr>
        <p:txBody>
          <a:bodyPr wrap="square" anchor="t"/>
          <a:lstStyle/>
          <a:p>
            <a:pPr algn="r"/>
            <a:r>
              <a:rPr sz="1100" b="0">
                <a:solidFill>
                  <a:srgbClr val="94A3B8"/>
                </a:solidFill>
                <a:latin typeface="Calibri"/>
              </a:rP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200" b="1">
                <a:solidFill>
                  <a:srgbClr val="4FD1C5"/>
                </a:solidFill>
                <a:latin typeface="Calibri"/>
              </a:rPr>
              <a:t>1. PROBLEM STATEMENT AND CONTEXT</a:t>
            </a:r>
          </a:p>
        </p:txBody>
      </p:sp>
      <p:sp>
        <p:nvSpPr>
          <p:cNvPr id="6" name="TextBox 5"/>
          <p:cNvSpPr txBox="1"/>
          <p:nvPr/>
        </p:nvSpPr>
        <p:spPr>
          <a:xfrm>
            <a:off x="502920" y="530352"/>
            <a:ext cx="11155680" cy="640080"/>
          </a:xfrm>
          <a:prstGeom prst="rect">
            <a:avLst/>
          </a:prstGeom>
          <a:noFill/>
        </p:spPr>
        <p:txBody>
          <a:bodyPr wrap="square" anchor="t"/>
          <a:lstStyle/>
          <a:p>
            <a:pPr algn="l"/>
            <a:r>
              <a:rPr sz="2800" b="1">
                <a:solidFill>
                  <a:srgbClr val="F8FAFC"/>
                </a:solidFill>
                <a:latin typeface="Calibri"/>
              </a:rPr>
              <a:t>The P&amp;L lives in Excel. So does the fraud.</a:t>
            </a:r>
          </a:p>
        </p:txBody>
      </p:sp>
      <p:sp>
        <p:nvSpPr>
          <p:cNvPr id="7" name="Rounded Rectangle 6"/>
          <p:cNvSpPr/>
          <p:nvPr/>
        </p:nvSpPr>
        <p:spPr>
          <a:xfrm>
            <a:off x="457200" y="1325880"/>
            <a:ext cx="3657600" cy="324612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472184"/>
            <a:ext cx="3291840" cy="329184"/>
          </a:xfrm>
          <a:prstGeom prst="rect">
            <a:avLst/>
          </a:prstGeom>
          <a:noFill/>
        </p:spPr>
        <p:txBody>
          <a:bodyPr wrap="square" anchor="t"/>
          <a:lstStyle/>
          <a:p>
            <a:pPr algn="l"/>
            <a:r>
              <a:rPr sz="1600" b="1">
                <a:solidFill>
                  <a:srgbClr val="E8C56B"/>
                </a:solidFill>
                <a:latin typeface="Calibri"/>
              </a:rPr>
              <a:t>Financial blindness</a:t>
            </a:r>
          </a:p>
        </p:txBody>
      </p:sp>
      <p:sp>
        <p:nvSpPr>
          <p:cNvPr id="9" name="TextBox 8"/>
          <p:cNvSpPr txBox="1"/>
          <p:nvPr/>
        </p:nvSpPr>
        <p:spPr>
          <a:xfrm>
            <a:off x="658368" y="1801368"/>
            <a:ext cx="3291840" cy="2606040"/>
          </a:xfrm>
          <a:prstGeom prst="rect">
            <a:avLst/>
          </a:prstGeom>
          <a:noFill/>
        </p:spPr>
        <p:txBody>
          <a:bodyPr wrap="square" anchor="t"/>
          <a:lstStyle/>
          <a:p>
            <a:pPr algn="l"/>
            <a:r>
              <a:rPr sz="1400" b="0">
                <a:solidFill>
                  <a:srgbClr val="F8FAFC"/>
                </a:solidFill>
                <a:latin typeface="Calibri"/>
              </a:rPr>
              <a:t>Independent MENA merchants run shops from messy Arabic and English Excel, CSV, PDF and photos. Rent, salaries and utilities are missing. Phantom profit looks healthy. Dead stock and wrong prices drain cash. There is no CFO.</a:t>
            </a:r>
          </a:p>
        </p:txBody>
      </p:sp>
      <p:sp>
        <p:nvSpPr>
          <p:cNvPr id="10" name="Rounded Rectangle 9"/>
          <p:cNvSpPr/>
          <p:nvPr/>
        </p:nvSpPr>
        <p:spPr>
          <a:xfrm>
            <a:off x="4251960" y="1325880"/>
            <a:ext cx="3657600" cy="324612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3128" y="1472184"/>
            <a:ext cx="3291840" cy="329184"/>
          </a:xfrm>
          <a:prstGeom prst="rect">
            <a:avLst/>
          </a:prstGeom>
          <a:noFill/>
        </p:spPr>
        <p:txBody>
          <a:bodyPr wrap="square" anchor="t"/>
          <a:lstStyle/>
          <a:p>
            <a:pPr algn="l"/>
            <a:r>
              <a:rPr sz="1600" b="1">
                <a:solidFill>
                  <a:srgbClr val="E8C56B"/>
                </a:solidFill>
                <a:latin typeface="Calibri"/>
              </a:rPr>
              <a:t>Profit leakage</a:t>
            </a:r>
          </a:p>
        </p:txBody>
      </p:sp>
      <p:sp>
        <p:nvSpPr>
          <p:cNvPr id="12" name="TextBox 11"/>
          <p:cNvSpPr txBox="1"/>
          <p:nvPr/>
        </p:nvSpPr>
        <p:spPr>
          <a:xfrm>
            <a:off x="4453128" y="1801368"/>
            <a:ext cx="3291840" cy="2606040"/>
          </a:xfrm>
          <a:prstGeom prst="rect">
            <a:avLst/>
          </a:prstGeom>
          <a:noFill/>
        </p:spPr>
        <p:txBody>
          <a:bodyPr wrap="square" anchor="t"/>
          <a:lstStyle/>
          <a:p>
            <a:pPr algn="l"/>
            <a:r>
              <a:rPr sz="1400" b="0">
                <a:solidFill>
                  <a:srgbClr val="F8FAFC"/>
                </a:solidFill>
                <a:latin typeface="Calibri"/>
              </a:rPr>
              <a:t>Weak SKUs, unexamined margins and unplanned OpEx hide the real net profit. A ‘good month’ in the sales sheet can still be a cash-negative month for the store.</a:t>
            </a:r>
          </a:p>
        </p:txBody>
      </p:sp>
      <p:sp>
        <p:nvSpPr>
          <p:cNvPr id="13" name="Rounded Rectangle 12"/>
          <p:cNvSpPr/>
          <p:nvPr/>
        </p:nvSpPr>
        <p:spPr>
          <a:xfrm>
            <a:off x="8046720" y="1325880"/>
            <a:ext cx="3657600" cy="324612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1472184"/>
            <a:ext cx="3291840" cy="329184"/>
          </a:xfrm>
          <a:prstGeom prst="rect">
            <a:avLst/>
          </a:prstGeom>
          <a:noFill/>
        </p:spPr>
        <p:txBody>
          <a:bodyPr wrap="square" anchor="t"/>
          <a:lstStyle/>
          <a:p>
            <a:pPr algn="l"/>
            <a:r>
              <a:rPr sz="1600" b="1">
                <a:solidFill>
                  <a:srgbClr val="E8C56B"/>
                </a:solidFill>
                <a:latin typeface="Calibri"/>
              </a:rPr>
              <a:t>Account takeover</a:t>
            </a:r>
          </a:p>
        </p:txBody>
      </p:sp>
      <p:sp>
        <p:nvSpPr>
          <p:cNvPr id="15" name="TextBox 14"/>
          <p:cNvSpPr txBox="1"/>
          <p:nvPr/>
        </p:nvSpPr>
        <p:spPr>
          <a:xfrm>
            <a:off x="8247888" y="1801368"/>
            <a:ext cx="3291840" cy="2606040"/>
          </a:xfrm>
          <a:prstGeom prst="rect">
            <a:avLst/>
          </a:prstGeom>
          <a:noFill/>
        </p:spPr>
        <p:txBody>
          <a:bodyPr wrap="square" anchor="t"/>
          <a:lstStyle/>
          <a:p>
            <a:pPr algn="l"/>
            <a:r>
              <a:rPr sz="1400" b="0">
                <a:solidFill>
                  <a:srgbClr val="F8FAFC"/>
                </a:solidFill>
                <a:latin typeface="Calibri"/>
              </a:rPr>
              <a:t>A SIM swap beats SMS OTP. The attacker then opens the advisor, downloads P&amp;L reports, changes prices, or steals the sales files that are the business. A login from another country uploading ‘the monthly file’ can be a hijacked account.</a:t>
            </a:r>
          </a:p>
        </p:txBody>
      </p:sp>
      <p:sp>
        <p:nvSpPr>
          <p:cNvPr id="16" name="Rounded Rectangle 15"/>
          <p:cNvSpPr/>
          <p:nvPr/>
        </p:nvSpPr>
        <p:spPr>
          <a:xfrm>
            <a:off x="457200" y="4754880"/>
            <a:ext cx="11247120" cy="141732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892040"/>
            <a:ext cx="10789920" cy="1143000"/>
          </a:xfrm>
          <a:prstGeom prst="rect">
            <a:avLst/>
          </a:prstGeom>
          <a:noFill/>
        </p:spPr>
        <p:txBody>
          <a:bodyPr wrap="square" anchor="t"/>
          <a:lstStyle/>
          <a:p>
            <a:pPr algn="l"/>
            <a:r>
              <a:rPr sz="1600" b="0">
                <a:solidFill>
                  <a:srgbClr val="F8FAFC"/>
                </a:solidFill>
                <a:latin typeface="Calibri"/>
              </a:rPr>
              <a:t>Banks already buy network APIs. The SaaS that holds the merchant’s books usually does not.
That is the Theme 4 gap: financial files without telco-grade identity, on the same login that SMS OTP cannot protect.</a:t>
            </a:r>
          </a:p>
        </p:txBody>
      </p:sp>
      <p:sp>
        <p:nvSpPr>
          <p:cNvPr id="18" name="TextBox 17"/>
          <p:cNvSpPr txBox="1"/>
          <p:nvPr/>
        </p:nvSpPr>
        <p:spPr>
          <a:xfrm>
            <a:off x="457200" y="6510528"/>
            <a:ext cx="7315200" cy="256032"/>
          </a:xfrm>
          <a:prstGeom prst="rect">
            <a:avLst/>
          </a:prstGeom>
          <a:noFill/>
        </p:spPr>
        <p:txBody>
          <a:bodyPr wrap="square" anchor="t"/>
          <a:lstStyle/>
          <a:p>
            <a:pPr algn="l"/>
            <a:r>
              <a:rPr sz="1100" b="0">
                <a:solidFill>
                  <a:srgbClr val="94A3B8"/>
                </a:solidFill>
                <a:latin typeface="Calibri"/>
              </a:rPr>
              <a:t>Smart Profits  ·  GSMA MENA Ignite  ·  Theme 4</a:t>
            </a:r>
          </a:p>
        </p:txBody>
      </p:sp>
      <p:sp>
        <p:nvSpPr>
          <p:cNvPr id="19" name="TextBox 18"/>
          <p:cNvSpPr txBox="1"/>
          <p:nvPr/>
        </p:nvSpPr>
        <p:spPr>
          <a:xfrm>
            <a:off x="10424160" y="6510528"/>
            <a:ext cx="1280160" cy="256032"/>
          </a:xfrm>
          <a:prstGeom prst="rect">
            <a:avLst/>
          </a:prstGeom>
          <a:noFill/>
        </p:spPr>
        <p:txBody>
          <a:bodyPr wrap="square" anchor="t"/>
          <a:lstStyle/>
          <a:p>
            <a:pPr algn="r"/>
            <a:r>
              <a:rPr sz="1100" b="0">
                <a:solidFill>
                  <a:srgbClr val="94A3B8"/>
                </a:solidFill>
                <a:latin typeface="Calibri"/>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200" b="1">
                <a:solidFill>
                  <a:srgbClr val="4FD1C5"/>
                </a:solidFill>
                <a:latin typeface="Calibri"/>
              </a:rPr>
              <a:t>2. SOLUTION AND NOKIA CAMARA APIS</a:t>
            </a:r>
          </a:p>
        </p:txBody>
      </p:sp>
      <p:sp>
        <p:nvSpPr>
          <p:cNvPr id="6" name="TextBox 5"/>
          <p:cNvSpPr txBox="1"/>
          <p:nvPr/>
        </p:nvSpPr>
        <p:spPr>
          <a:xfrm>
            <a:off x="502920" y="530352"/>
            <a:ext cx="11155680" cy="640080"/>
          </a:xfrm>
          <a:prstGeom prst="rect">
            <a:avLst/>
          </a:prstGeom>
          <a:noFill/>
        </p:spPr>
        <p:txBody>
          <a:bodyPr wrap="square" anchor="t"/>
          <a:lstStyle/>
          <a:p>
            <a:pPr algn="l"/>
            <a:r>
              <a:rPr sz="2800" b="1">
                <a:solidFill>
                  <a:srgbClr val="F8FAFC"/>
                </a:solidFill>
                <a:latin typeface="Calibri"/>
              </a:rPr>
              <a:t>One platform. Two brains. Three network APIs.</a:t>
            </a:r>
          </a:p>
        </p:txBody>
      </p:sp>
      <p:sp>
        <p:nvSpPr>
          <p:cNvPr id="7" name="Rounded Rectangle 6"/>
          <p:cNvSpPr/>
          <p:nvPr/>
        </p:nvSpPr>
        <p:spPr>
          <a:xfrm>
            <a:off x="457200" y="1280160"/>
            <a:ext cx="5532120" cy="15544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426464"/>
            <a:ext cx="5166360" cy="329184"/>
          </a:xfrm>
          <a:prstGeom prst="rect">
            <a:avLst/>
          </a:prstGeom>
          <a:noFill/>
        </p:spPr>
        <p:txBody>
          <a:bodyPr wrap="square" anchor="t"/>
          <a:lstStyle/>
          <a:p>
            <a:pPr algn="l"/>
            <a:r>
              <a:rPr sz="1600" b="1">
                <a:solidFill>
                  <a:srgbClr val="E8C56B"/>
                </a:solidFill>
                <a:latin typeface="Calibri"/>
              </a:rPr>
              <a:t>Financial AI</a:t>
            </a:r>
          </a:p>
        </p:txBody>
      </p:sp>
      <p:sp>
        <p:nvSpPr>
          <p:cNvPr id="9" name="TextBox 8"/>
          <p:cNvSpPr txBox="1"/>
          <p:nvPr/>
        </p:nvSpPr>
        <p:spPr>
          <a:xfrm>
            <a:off x="658368" y="1755648"/>
            <a:ext cx="5166360" cy="914400"/>
          </a:xfrm>
          <a:prstGeom prst="rect">
            <a:avLst/>
          </a:prstGeom>
          <a:noFill/>
        </p:spPr>
        <p:txBody>
          <a:bodyPr wrap="square" anchor="t"/>
          <a:lstStyle/>
          <a:p>
            <a:pPr algn="l"/>
            <a:r>
              <a:rPr sz="1400" b="0">
                <a:solidFill>
                  <a:srgbClr val="F8FAFC"/>
                </a:solidFill>
                <a:latin typeface="Calibri"/>
              </a:rPr>
              <a:t>Cleans messy Excel/CSV/PDF. Diagnoses store health, profit leaks, inventory and a 30-day plan. Answers questions from the currently open file — in Arabic or English.</a:t>
            </a:r>
          </a:p>
        </p:txBody>
      </p:sp>
      <p:sp>
        <p:nvSpPr>
          <p:cNvPr id="10" name="Rounded Rectangle 9"/>
          <p:cNvSpPr/>
          <p:nvPr/>
        </p:nvSpPr>
        <p:spPr>
          <a:xfrm>
            <a:off x="6172200" y="1280160"/>
            <a:ext cx="5532120" cy="15544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1426464"/>
            <a:ext cx="5166360" cy="329184"/>
          </a:xfrm>
          <a:prstGeom prst="rect">
            <a:avLst/>
          </a:prstGeom>
          <a:noFill/>
        </p:spPr>
        <p:txBody>
          <a:bodyPr wrap="square" anchor="t"/>
          <a:lstStyle/>
          <a:p>
            <a:pPr algn="l"/>
            <a:r>
              <a:rPr sz="1600" b="1">
                <a:solidFill>
                  <a:srgbClr val="E8C56B"/>
                </a:solidFill>
                <a:latin typeface="Calibri"/>
              </a:rPr>
              <a:t>Smart Guard AI Agent</a:t>
            </a:r>
          </a:p>
        </p:txBody>
      </p:sp>
      <p:sp>
        <p:nvSpPr>
          <p:cNvPr id="12" name="TextBox 11"/>
          <p:cNvSpPr txBox="1"/>
          <p:nvPr/>
        </p:nvSpPr>
        <p:spPr>
          <a:xfrm>
            <a:off x="6373368" y="1755648"/>
            <a:ext cx="5166360" cy="914400"/>
          </a:xfrm>
          <a:prstGeom prst="rect">
            <a:avLst/>
          </a:prstGeom>
          <a:noFill/>
        </p:spPr>
        <p:txBody>
          <a:bodyPr wrap="square" anchor="t"/>
          <a:lstStyle/>
          <a:p>
            <a:pPr algn="l"/>
            <a:r>
              <a:rPr sz="1400" b="0">
                <a:solidFill>
                  <a:srgbClr val="F8FAFC"/>
                </a:solidFill>
                <a:latin typeface="Calibri"/>
              </a:rPr>
              <a:t>On login, reset, upload, export and price change, the agent calls Nokia Network-as-Code and decides Allow / Step-up / Freeze. SMS is never the source of truth.</a:t>
            </a:r>
          </a:p>
        </p:txBody>
      </p:sp>
      <p:graphicFrame>
        <p:nvGraphicFramePr>
          <p:cNvPr id="13" name="Table 12"/>
          <p:cNvGraphicFramePr>
            <a:graphicFrameLocks noGrp="1"/>
          </p:cNvGraphicFramePr>
          <p:nvPr/>
        </p:nvGraphicFramePr>
        <p:xfrm>
          <a:off x="457200" y="3017520"/>
          <a:ext cx="11247120" cy="2331720"/>
        </p:xfrm>
        <a:graphic>
          <a:graphicData uri="http://schemas.openxmlformats.org/drawingml/2006/table">
            <a:tbl>
              <a:tblPr firstRow="1" bandRow="1">
                <a:tableStyleId>{5C22544A-7EE6-4342-B048-85BDC9FD1C3A}</a:tableStyleId>
              </a:tblPr>
              <a:tblGrid>
                <a:gridCol w="2468880"/>
                <a:gridCol w="4572000"/>
                <a:gridCol w="4206240"/>
              </a:tblGrid>
              <a:tr h="582930">
                <a:tc>
                  <a:txBody>
                    <a:bodyPr/>
                    <a:lstStyle/>
                    <a:p>
                      <a:pPr algn="l"/>
                      <a:r>
                        <a:rPr sz="1200" b="1">
                          <a:solidFill>
                            <a:srgbClr val="4FD1C5"/>
                          </a:solidFill>
                          <a:latin typeface="Calibri"/>
                        </a:rPr>
                        <a:t>Nokia / CAMARA API</a:t>
                      </a:r>
                    </a:p>
                  </a:txBody>
                  <a:tcPr>
                    <a:solidFill>
                      <a:srgbClr val="0B1120"/>
                    </a:solidFill>
                  </a:tcPr>
                </a:tc>
                <a:tc>
                  <a:txBody>
                    <a:bodyPr/>
                    <a:lstStyle/>
                    <a:p>
                      <a:pPr algn="l"/>
                      <a:r>
                        <a:rPr sz="1200" b="1">
                          <a:solidFill>
                            <a:srgbClr val="4FD1C5"/>
                          </a:solidFill>
                          <a:latin typeface="Calibri"/>
                        </a:rPr>
                        <a:t>When it is called</a:t>
                      </a:r>
                    </a:p>
                  </a:txBody>
                  <a:tcPr>
                    <a:solidFill>
                      <a:srgbClr val="0B1120"/>
                    </a:solidFill>
                  </a:tcPr>
                </a:tc>
                <a:tc>
                  <a:txBody>
                    <a:bodyPr/>
                    <a:lstStyle/>
                    <a:p>
                      <a:pPr algn="l"/>
                      <a:r>
                        <a:rPr sz="1200" b="1">
                          <a:solidFill>
                            <a:srgbClr val="4FD1C5"/>
                          </a:solidFill>
                          <a:latin typeface="Calibri"/>
                        </a:rPr>
                        <a:t>What the agent does</a:t>
                      </a:r>
                    </a:p>
                  </a:txBody>
                  <a:tcPr>
                    <a:solidFill>
                      <a:srgbClr val="0B1120"/>
                    </a:solidFill>
                  </a:tcPr>
                </a:tc>
              </a:tr>
              <a:tr h="582930">
                <a:tc>
                  <a:txBody>
                    <a:bodyPr/>
                    <a:lstStyle/>
                    <a:p>
                      <a:r>
                        <a:rPr sz="1200" b="1">
                          <a:solidFill>
                            <a:srgbClr val="4FD1C5"/>
                          </a:solidFill>
                          <a:latin typeface="Calibri"/>
                        </a:rPr>
                        <a:t>Number Verification</a:t>
                      </a:r>
                    </a:p>
                  </a:txBody>
                  <a:tcPr>
                    <a:solidFill>
                      <a:srgbClr val="162136"/>
                    </a:solidFill>
                  </a:tcPr>
                </a:tc>
                <a:tc>
                  <a:txBody>
                    <a:bodyPr/>
                    <a:lstStyle/>
                    <a:p>
                      <a:r>
                        <a:rPr sz="1200" b="0">
                          <a:solidFill>
                            <a:srgbClr val="F8FAFC"/>
                          </a:solidFill>
                          <a:latin typeface="Calibri"/>
                        </a:rPr>
                        <a:t>Login and step-up identity (silent 4G/5G, no SMS)</a:t>
                      </a:r>
                    </a:p>
                  </a:txBody>
                  <a:tcPr>
                    <a:solidFill>
                      <a:srgbClr val="162136"/>
                    </a:solidFill>
                  </a:tcPr>
                </a:tc>
                <a:tc>
                  <a:txBody>
                    <a:bodyPr/>
                    <a:lstStyle/>
                    <a:p>
                      <a:r>
                        <a:rPr sz="1200" b="0">
                          <a:solidFill>
                            <a:srgbClr val="F8FAFC"/>
                          </a:solidFill>
                          <a:latin typeface="Calibri"/>
                        </a:rPr>
                        <a:t>Confirm the live network number. Do not trust a spoofed SMS.</a:t>
                      </a:r>
                    </a:p>
                  </a:txBody>
                  <a:tcPr>
                    <a:solidFill>
                      <a:srgbClr val="162136"/>
                    </a:solidFill>
                  </a:tcPr>
                </a:tc>
              </a:tr>
              <a:tr h="582930">
                <a:tc>
                  <a:txBody>
                    <a:bodyPr/>
                    <a:lstStyle/>
                    <a:p>
                      <a:r>
                        <a:rPr sz="1200" b="1">
                          <a:solidFill>
                            <a:srgbClr val="4FD1C5"/>
                          </a:solidFill>
                          <a:latin typeface="Calibri"/>
                        </a:rPr>
                        <a:t>SIM Swap</a:t>
                      </a:r>
                    </a:p>
                  </a:txBody>
                  <a:tcPr>
                    <a:solidFill>
                      <a:srgbClr val="141C30"/>
                    </a:solidFill>
                  </a:tcPr>
                </a:tc>
                <a:tc>
                  <a:txBody>
                    <a:bodyPr/>
                    <a:lstStyle/>
                    <a:p>
                      <a:r>
                        <a:rPr sz="1200" b="0">
                          <a:solidFill>
                            <a:srgbClr val="F8FAFC"/>
                          </a:solidFill>
                          <a:latin typeface="Calibri"/>
                        </a:rPr>
                        <a:t>Login, password reset, price change, sensitive actions</a:t>
                      </a:r>
                    </a:p>
                  </a:txBody>
                  <a:tcPr>
                    <a:solidFill>
                      <a:srgbClr val="141C30"/>
                    </a:solidFill>
                  </a:tcPr>
                </a:tc>
                <a:tc>
                  <a:txBody>
                    <a:bodyPr/>
                    <a:lstStyle/>
                    <a:p>
                      <a:r>
                        <a:rPr sz="1200" b="0">
                          <a:solidFill>
                            <a:srgbClr val="F8FAFC"/>
                          </a:solidFill>
                          <a:latin typeface="Calibri"/>
                        </a:rPr>
                        <a:t>Recent swap → freeze the session. SMS OTP is untrusted.</a:t>
                      </a:r>
                    </a:p>
                  </a:txBody>
                  <a:tcPr>
                    <a:solidFill>
                      <a:srgbClr val="141C30"/>
                    </a:solidFill>
                  </a:tcPr>
                </a:tc>
              </a:tr>
              <a:tr h="582930">
                <a:tc>
                  <a:txBody>
                    <a:bodyPr/>
                    <a:lstStyle/>
                    <a:p>
                      <a:r>
                        <a:rPr sz="1200" b="1">
                          <a:solidFill>
                            <a:srgbClr val="4FD1C5"/>
                          </a:solidFill>
                          <a:latin typeface="Calibri"/>
                        </a:rPr>
                        <a:t>Location Verification</a:t>
                      </a:r>
                    </a:p>
                  </a:txBody>
                  <a:tcPr>
                    <a:solidFill>
                      <a:srgbClr val="162136"/>
                    </a:solidFill>
                  </a:tcPr>
                </a:tc>
                <a:tc>
                  <a:txBody>
                    <a:bodyPr/>
                    <a:lstStyle/>
                    <a:p>
                      <a:r>
                        <a:rPr sz="1200" b="0">
                          <a:solidFill>
                            <a:srgbClr val="F8FAFC"/>
                          </a:solidFill>
                          <a:latin typeface="Calibri"/>
                        </a:rPr>
                        <a:t>Excel/CSV/PDF upload and P&amp;L export</a:t>
                      </a:r>
                    </a:p>
                  </a:txBody>
                  <a:tcPr>
                    <a:solidFill>
                      <a:srgbClr val="162136"/>
                    </a:solidFill>
                  </a:tcPr>
                </a:tc>
                <a:tc>
                  <a:txBody>
                    <a:bodyPr/>
                    <a:lstStyle/>
                    <a:p>
                      <a:r>
                        <a:rPr sz="1200" b="0">
                          <a:solidFill>
                            <a:srgbClr val="F8FAFC"/>
                          </a:solidFill>
                          <a:latin typeface="Calibri"/>
                        </a:rPr>
                        <a:t>Must match the usual store / branch area, or the file never lands.</a:t>
                      </a:r>
                    </a:p>
                  </a:txBody>
                  <a:tcPr>
                    <a:solidFill>
                      <a:srgbClr val="162136"/>
                    </a:solidFill>
                  </a:tcPr>
                </a:tc>
              </a:tr>
            </a:tbl>
          </a:graphicData>
        </a:graphic>
      </p:graphicFrame>
      <p:sp>
        <p:nvSpPr>
          <p:cNvPr id="14" name="TextBox 13"/>
          <p:cNvSpPr txBox="1"/>
          <p:nvPr/>
        </p:nvSpPr>
        <p:spPr>
          <a:xfrm>
            <a:off x="502920" y="5486400"/>
            <a:ext cx="11155680" cy="777240"/>
          </a:xfrm>
          <a:prstGeom prst="rect">
            <a:avLst/>
          </a:prstGeom>
          <a:noFill/>
        </p:spPr>
        <p:txBody>
          <a:bodyPr wrap="square" anchor="t"/>
          <a:lstStyle/>
          <a:p>
            <a:pPr algn="l"/>
            <a:r>
              <a:rPr sz="1300" b="0">
                <a:solidFill>
                  <a:srgbClr val="94A3B8"/>
                </a:solidFill>
                <a:latin typeface="Calibri"/>
              </a:rPr>
              <a:t>Testing and prototype validation will utilize Nokia Network-as-Code developer portal simulators for SIM Swap, Location Verification, and Number Verification — then map one-to-one onto production CAMARA endpoints.</a:t>
            </a:r>
          </a:p>
        </p:txBody>
      </p:sp>
      <p:sp>
        <p:nvSpPr>
          <p:cNvPr id="15" name="TextBox 14"/>
          <p:cNvSpPr txBox="1"/>
          <p:nvPr/>
        </p:nvSpPr>
        <p:spPr>
          <a:xfrm>
            <a:off x="457200" y="6510528"/>
            <a:ext cx="7315200" cy="256032"/>
          </a:xfrm>
          <a:prstGeom prst="rect">
            <a:avLst/>
          </a:prstGeom>
          <a:noFill/>
        </p:spPr>
        <p:txBody>
          <a:bodyPr wrap="square" anchor="t"/>
          <a:lstStyle/>
          <a:p>
            <a:pPr algn="l"/>
            <a:r>
              <a:rPr sz="1100" b="0">
                <a:solidFill>
                  <a:srgbClr val="94A3B8"/>
                </a:solidFill>
                <a:latin typeface="Calibri"/>
              </a:rPr>
              <a:t>Smart Profits  ·  GSMA MENA Ignite  ·  Theme 4</a:t>
            </a:r>
          </a:p>
        </p:txBody>
      </p:sp>
      <p:sp>
        <p:nvSpPr>
          <p:cNvPr id="16" name="TextBox 15"/>
          <p:cNvSpPr txBox="1"/>
          <p:nvPr/>
        </p:nvSpPr>
        <p:spPr>
          <a:xfrm>
            <a:off x="10424160" y="6510528"/>
            <a:ext cx="1280160" cy="256032"/>
          </a:xfrm>
          <a:prstGeom prst="rect">
            <a:avLst/>
          </a:prstGeom>
          <a:noFill/>
        </p:spPr>
        <p:txBody>
          <a:bodyPr wrap="square" anchor="t"/>
          <a:lstStyle/>
          <a:p>
            <a:pPr algn="r"/>
            <a:r>
              <a:rPr sz="1100" b="0">
                <a:solidFill>
                  <a:srgbClr val="94A3B8"/>
                </a:solidFill>
                <a:latin typeface="Calibri"/>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200" b="1">
                <a:solidFill>
                  <a:srgbClr val="4FD1C5"/>
                </a:solidFill>
                <a:latin typeface="Calibri"/>
              </a:rPr>
              <a:t>3. AI AGENT DESIGN</a:t>
            </a:r>
          </a:p>
        </p:txBody>
      </p:sp>
      <p:sp>
        <p:nvSpPr>
          <p:cNvPr id="6" name="TextBox 5"/>
          <p:cNvSpPr txBox="1"/>
          <p:nvPr/>
        </p:nvSpPr>
        <p:spPr>
          <a:xfrm>
            <a:off x="502920" y="530352"/>
            <a:ext cx="11155680" cy="640080"/>
          </a:xfrm>
          <a:prstGeom prst="rect">
            <a:avLst/>
          </a:prstGeom>
          <a:noFill/>
        </p:spPr>
        <p:txBody>
          <a:bodyPr wrap="square" anchor="t"/>
          <a:lstStyle/>
          <a:p>
            <a:pPr algn="l"/>
            <a:r>
              <a:rPr sz="2800" b="1">
                <a:solidFill>
                  <a:srgbClr val="F8FAFC"/>
                </a:solidFill>
                <a:latin typeface="Calibri"/>
              </a:rPr>
              <a:t>Smart Guard decides. It does not caption.</a:t>
            </a:r>
          </a:p>
        </p:txBody>
      </p:sp>
      <p:sp>
        <p:nvSpPr>
          <p:cNvPr id="7" name="TextBox 6"/>
          <p:cNvSpPr txBox="1"/>
          <p:nvPr/>
        </p:nvSpPr>
        <p:spPr>
          <a:xfrm>
            <a:off x="502920" y="1234440"/>
            <a:ext cx="11155680" cy="502920"/>
          </a:xfrm>
          <a:prstGeom prst="rect">
            <a:avLst/>
          </a:prstGeom>
          <a:noFill/>
        </p:spPr>
        <p:txBody>
          <a:bodyPr wrap="square" anchor="t"/>
          <a:lstStyle/>
          <a:p>
            <a:pPr algn="l"/>
            <a:r>
              <a:rPr sz="1600" b="0">
                <a:solidFill>
                  <a:srgbClr val="94A3B8"/>
                </a:solidFill>
                <a:latin typeface="Calibri"/>
              </a:rPr>
              <a:t>The agent is the orchestration brain required by the hackathon: it calls CAMARA tools, combines them with financial context, and executes policy.</a:t>
            </a:r>
          </a:p>
        </p:txBody>
      </p:sp>
      <p:sp>
        <p:nvSpPr>
          <p:cNvPr id="8" name="Rounded Rectangle 7"/>
          <p:cNvSpPr/>
          <p:nvPr/>
        </p:nvSpPr>
        <p:spPr>
          <a:xfrm>
            <a:off x="457200" y="1874519"/>
            <a:ext cx="2743200" cy="21488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93392"/>
            <a:ext cx="2377440" cy="365760"/>
          </a:xfrm>
          <a:prstGeom prst="rect">
            <a:avLst/>
          </a:prstGeom>
          <a:noFill/>
        </p:spPr>
        <p:txBody>
          <a:bodyPr wrap="square" anchor="t"/>
          <a:lstStyle/>
          <a:p>
            <a:pPr algn="l"/>
            <a:r>
              <a:rPr sz="2200" b="1">
                <a:solidFill>
                  <a:srgbClr val="E8C56B"/>
                </a:solidFill>
                <a:latin typeface="Calibri"/>
              </a:rPr>
              <a:t>1</a:t>
            </a:r>
          </a:p>
        </p:txBody>
      </p:sp>
      <p:sp>
        <p:nvSpPr>
          <p:cNvPr id="10" name="TextBox 9"/>
          <p:cNvSpPr txBox="1"/>
          <p:nvPr/>
        </p:nvSpPr>
        <p:spPr>
          <a:xfrm>
            <a:off x="621792" y="2359152"/>
            <a:ext cx="2377440" cy="320040"/>
          </a:xfrm>
          <a:prstGeom prst="rect">
            <a:avLst/>
          </a:prstGeom>
          <a:noFill/>
        </p:spPr>
        <p:txBody>
          <a:bodyPr wrap="square" anchor="t"/>
          <a:lstStyle/>
          <a:p>
            <a:pPr algn="l"/>
            <a:r>
              <a:rPr sz="1800" b="1">
                <a:solidFill>
                  <a:srgbClr val="4FD1C5"/>
                </a:solidFill>
                <a:latin typeface="Calibri"/>
              </a:rPr>
              <a:t>Sense</a:t>
            </a:r>
          </a:p>
        </p:txBody>
      </p:sp>
      <p:sp>
        <p:nvSpPr>
          <p:cNvPr id="11" name="TextBox 10"/>
          <p:cNvSpPr txBox="1"/>
          <p:nvPr/>
        </p:nvSpPr>
        <p:spPr>
          <a:xfrm>
            <a:off x="621792" y="2743200"/>
            <a:ext cx="2377440" cy="1097280"/>
          </a:xfrm>
          <a:prstGeom prst="rect">
            <a:avLst/>
          </a:prstGeom>
          <a:noFill/>
        </p:spPr>
        <p:txBody>
          <a:bodyPr wrap="square" anchor="t"/>
          <a:lstStyle/>
          <a:p>
            <a:pPr algn="l"/>
            <a:r>
              <a:rPr sz="1300" b="0">
                <a:solidFill>
                  <a:srgbClr val="F8FAFC"/>
                </a:solidFill>
                <a:latin typeface="Calibri"/>
              </a:rPr>
              <a:t>Merchant action: login, reset, file upload, P&amp;L export, price change.</a:t>
            </a:r>
          </a:p>
        </p:txBody>
      </p:sp>
      <p:sp>
        <p:nvSpPr>
          <p:cNvPr id="12" name="Rounded Rectangle 11"/>
          <p:cNvSpPr/>
          <p:nvPr/>
        </p:nvSpPr>
        <p:spPr>
          <a:xfrm>
            <a:off x="3383280" y="1874519"/>
            <a:ext cx="2743200" cy="21488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993392"/>
            <a:ext cx="2377440" cy="365760"/>
          </a:xfrm>
          <a:prstGeom prst="rect">
            <a:avLst/>
          </a:prstGeom>
          <a:noFill/>
        </p:spPr>
        <p:txBody>
          <a:bodyPr wrap="square" anchor="t"/>
          <a:lstStyle/>
          <a:p>
            <a:pPr algn="l"/>
            <a:r>
              <a:rPr sz="2200" b="1">
                <a:solidFill>
                  <a:srgbClr val="E8C56B"/>
                </a:solidFill>
                <a:latin typeface="Calibri"/>
              </a:rPr>
              <a:t>2</a:t>
            </a:r>
          </a:p>
        </p:txBody>
      </p:sp>
      <p:sp>
        <p:nvSpPr>
          <p:cNvPr id="14" name="TextBox 13"/>
          <p:cNvSpPr txBox="1"/>
          <p:nvPr/>
        </p:nvSpPr>
        <p:spPr>
          <a:xfrm>
            <a:off x="3547872" y="2359152"/>
            <a:ext cx="2377440" cy="320040"/>
          </a:xfrm>
          <a:prstGeom prst="rect">
            <a:avLst/>
          </a:prstGeom>
          <a:noFill/>
        </p:spPr>
        <p:txBody>
          <a:bodyPr wrap="square" anchor="t"/>
          <a:lstStyle/>
          <a:p>
            <a:pPr algn="l"/>
            <a:r>
              <a:rPr sz="1800" b="1">
                <a:solidFill>
                  <a:srgbClr val="4FD1C5"/>
                </a:solidFill>
                <a:latin typeface="Calibri"/>
              </a:rPr>
              <a:t>Query</a:t>
            </a:r>
          </a:p>
        </p:txBody>
      </p:sp>
      <p:sp>
        <p:nvSpPr>
          <p:cNvPr id="15" name="TextBox 14"/>
          <p:cNvSpPr txBox="1"/>
          <p:nvPr/>
        </p:nvSpPr>
        <p:spPr>
          <a:xfrm>
            <a:off x="3547872" y="2743200"/>
            <a:ext cx="2377440" cy="1097280"/>
          </a:xfrm>
          <a:prstGeom prst="rect">
            <a:avLst/>
          </a:prstGeom>
          <a:noFill/>
        </p:spPr>
        <p:txBody>
          <a:bodyPr wrap="square" anchor="t"/>
          <a:lstStyle/>
          <a:p>
            <a:pPr algn="l"/>
            <a:r>
              <a:rPr sz="1300" b="0">
                <a:solidFill>
                  <a:srgbClr val="F8FAFC"/>
                </a:solidFill>
                <a:latin typeface="Calibri"/>
              </a:rPr>
              <a:t>Call Number Verification, SIM Swap and Location Verification via Nokia NaC.</a:t>
            </a:r>
          </a:p>
        </p:txBody>
      </p:sp>
      <p:sp>
        <p:nvSpPr>
          <p:cNvPr id="16" name="Rounded Rectangle 15"/>
          <p:cNvSpPr/>
          <p:nvPr/>
        </p:nvSpPr>
        <p:spPr>
          <a:xfrm>
            <a:off x="6309360" y="1874519"/>
            <a:ext cx="2743200" cy="21488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1993392"/>
            <a:ext cx="2377440" cy="365760"/>
          </a:xfrm>
          <a:prstGeom prst="rect">
            <a:avLst/>
          </a:prstGeom>
          <a:noFill/>
        </p:spPr>
        <p:txBody>
          <a:bodyPr wrap="square" anchor="t"/>
          <a:lstStyle/>
          <a:p>
            <a:pPr algn="l"/>
            <a:r>
              <a:rPr sz="2200" b="1">
                <a:solidFill>
                  <a:srgbClr val="E8C56B"/>
                </a:solidFill>
                <a:latin typeface="Calibri"/>
              </a:rPr>
              <a:t>3</a:t>
            </a:r>
          </a:p>
        </p:txBody>
      </p:sp>
      <p:sp>
        <p:nvSpPr>
          <p:cNvPr id="18" name="TextBox 17"/>
          <p:cNvSpPr txBox="1"/>
          <p:nvPr/>
        </p:nvSpPr>
        <p:spPr>
          <a:xfrm>
            <a:off x="6473952" y="2359152"/>
            <a:ext cx="2377440" cy="320040"/>
          </a:xfrm>
          <a:prstGeom prst="rect">
            <a:avLst/>
          </a:prstGeom>
          <a:noFill/>
        </p:spPr>
        <p:txBody>
          <a:bodyPr wrap="square" anchor="t"/>
          <a:lstStyle/>
          <a:p>
            <a:pPr algn="l"/>
            <a:r>
              <a:rPr sz="1800" b="1">
                <a:solidFill>
                  <a:srgbClr val="4FD1C5"/>
                </a:solidFill>
                <a:latin typeface="Calibri"/>
              </a:rPr>
              <a:t>Decide</a:t>
            </a:r>
          </a:p>
        </p:txBody>
      </p:sp>
      <p:sp>
        <p:nvSpPr>
          <p:cNvPr id="19" name="TextBox 18"/>
          <p:cNvSpPr txBox="1"/>
          <p:nvPr/>
        </p:nvSpPr>
        <p:spPr>
          <a:xfrm>
            <a:off x="6473952" y="2743200"/>
            <a:ext cx="2377440" cy="1097280"/>
          </a:xfrm>
          <a:prstGeom prst="rect">
            <a:avLst/>
          </a:prstGeom>
          <a:noFill/>
        </p:spPr>
        <p:txBody>
          <a:bodyPr wrap="square" anchor="t"/>
          <a:lstStyle/>
          <a:p>
            <a:pPr algn="l"/>
            <a:r>
              <a:rPr sz="1300" b="0">
                <a:solidFill>
                  <a:srgbClr val="F8FAFC"/>
                </a:solidFill>
                <a:latin typeface="Calibri"/>
              </a:rPr>
              <a:t>Fuse network risk with file sensitivity. Output: Allow · Step-up · Freeze.</a:t>
            </a:r>
          </a:p>
        </p:txBody>
      </p:sp>
      <p:sp>
        <p:nvSpPr>
          <p:cNvPr id="20" name="Rounded Rectangle 19"/>
          <p:cNvSpPr/>
          <p:nvPr/>
        </p:nvSpPr>
        <p:spPr>
          <a:xfrm>
            <a:off x="9235440" y="1874519"/>
            <a:ext cx="2743200" cy="21488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00032" y="1993392"/>
            <a:ext cx="2377440" cy="365760"/>
          </a:xfrm>
          <a:prstGeom prst="rect">
            <a:avLst/>
          </a:prstGeom>
          <a:noFill/>
        </p:spPr>
        <p:txBody>
          <a:bodyPr wrap="square" anchor="t"/>
          <a:lstStyle/>
          <a:p>
            <a:pPr algn="l"/>
            <a:r>
              <a:rPr sz="2200" b="1">
                <a:solidFill>
                  <a:srgbClr val="E8C56B"/>
                </a:solidFill>
                <a:latin typeface="Calibri"/>
              </a:rPr>
              <a:t>4</a:t>
            </a:r>
          </a:p>
        </p:txBody>
      </p:sp>
      <p:sp>
        <p:nvSpPr>
          <p:cNvPr id="22" name="TextBox 21"/>
          <p:cNvSpPr txBox="1"/>
          <p:nvPr/>
        </p:nvSpPr>
        <p:spPr>
          <a:xfrm>
            <a:off x="9400032" y="2359152"/>
            <a:ext cx="2377440" cy="320040"/>
          </a:xfrm>
          <a:prstGeom prst="rect">
            <a:avLst/>
          </a:prstGeom>
          <a:noFill/>
        </p:spPr>
        <p:txBody>
          <a:bodyPr wrap="square" anchor="t"/>
          <a:lstStyle/>
          <a:p>
            <a:pPr algn="l"/>
            <a:r>
              <a:rPr sz="1800" b="1">
                <a:solidFill>
                  <a:srgbClr val="4FD1C5"/>
                </a:solidFill>
                <a:latin typeface="Calibri"/>
              </a:rPr>
              <a:t>Act</a:t>
            </a:r>
          </a:p>
        </p:txBody>
      </p:sp>
      <p:sp>
        <p:nvSpPr>
          <p:cNvPr id="23" name="TextBox 22"/>
          <p:cNvSpPr txBox="1"/>
          <p:nvPr/>
        </p:nvSpPr>
        <p:spPr>
          <a:xfrm>
            <a:off x="9400032" y="2743200"/>
            <a:ext cx="2377440" cy="1097280"/>
          </a:xfrm>
          <a:prstGeom prst="rect">
            <a:avLst/>
          </a:prstGeom>
          <a:noFill/>
        </p:spPr>
        <p:txBody>
          <a:bodyPr wrap="square" anchor="t"/>
          <a:lstStyle/>
          <a:p>
            <a:pPr algn="l"/>
            <a:r>
              <a:rPr sz="1300" b="0">
                <a:solidFill>
                  <a:srgbClr val="F8FAFC"/>
                </a:solidFill>
                <a:latin typeface="Calibri"/>
              </a:rPr>
              <a:t>If freeze: do not store the workbook. Explain in Arabic or English. Wait for network identity.</a:t>
            </a:r>
          </a:p>
        </p:txBody>
      </p:sp>
      <p:sp>
        <p:nvSpPr>
          <p:cNvPr id="24" name="Rounded Rectangle 23"/>
          <p:cNvSpPr/>
          <p:nvPr/>
        </p:nvSpPr>
        <p:spPr>
          <a:xfrm>
            <a:off x="457200" y="4206240"/>
            <a:ext cx="11247120" cy="196596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343400"/>
            <a:ext cx="10972800" cy="320040"/>
          </a:xfrm>
          <a:prstGeom prst="rect">
            <a:avLst/>
          </a:prstGeom>
          <a:noFill/>
        </p:spPr>
        <p:txBody>
          <a:bodyPr wrap="square" anchor="t"/>
          <a:lstStyle/>
          <a:p>
            <a:pPr algn="l"/>
            <a:r>
              <a:rPr sz="1600" b="1">
                <a:solidFill>
                  <a:srgbClr val="E8C56B"/>
                </a:solidFill>
                <a:latin typeface="Calibri"/>
              </a:rPr>
              <a:t>Freeze loop (example)</a:t>
            </a:r>
          </a:p>
        </p:txBody>
      </p:sp>
      <p:sp>
        <p:nvSpPr>
          <p:cNvPr id="26" name="TextBox 25"/>
          <p:cNvSpPr txBox="1"/>
          <p:nvPr/>
        </p:nvSpPr>
        <p:spPr>
          <a:xfrm>
            <a:off x="685800" y="4709160"/>
            <a:ext cx="10789920" cy="1280160"/>
          </a:xfrm>
          <a:prstGeom prst="rect">
            <a:avLst/>
          </a:prstGeom>
          <a:noFill/>
        </p:spPr>
        <p:txBody>
          <a:bodyPr wrap="square" anchor="t"/>
          <a:lstStyle/>
          <a:p>
            <a:pPr algn="l"/>
            <a:r>
              <a:rPr sz="1400" b="0">
                <a:solidFill>
                  <a:srgbClr val="F8FAFC"/>
                </a:solidFill>
                <a:latin typeface="Calibri"/>
              </a:rPr>
              <a:t>action: upload monthly_sales.xlsx
→ agent.check(SIM Swap, Number Verification, Location Verification)
→ SIM Swap = recent  OR  location ≠ store geofence  →  decision = FREEZE
→ file is not stored  ·  merchant is notified  ·  recover with Number Verification on the trusted line</a:t>
            </a:r>
          </a:p>
        </p:txBody>
      </p:sp>
      <p:sp>
        <p:nvSpPr>
          <p:cNvPr id="27" name="TextBox 26"/>
          <p:cNvSpPr txBox="1"/>
          <p:nvPr/>
        </p:nvSpPr>
        <p:spPr>
          <a:xfrm>
            <a:off x="457200" y="6510528"/>
            <a:ext cx="7315200" cy="256032"/>
          </a:xfrm>
          <a:prstGeom prst="rect">
            <a:avLst/>
          </a:prstGeom>
          <a:noFill/>
        </p:spPr>
        <p:txBody>
          <a:bodyPr wrap="square" anchor="t"/>
          <a:lstStyle/>
          <a:p>
            <a:pPr algn="l"/>
            <a:r>
              <a:rPr sz="1100" b="0">
                <a:solidFill>
                  <a:srgbClr val="94A3B8"/>
                </a:solidFill>
                <a:latin typeface="Calibri"/>
              </a:rPr>
              <a:t>Smart Profits  ·  GSMA MENA Ignite  ·  Theme 4</a:t>
            </a:r>
          </a:p>
        </p:txBody>
      </p:sp>
      <p:sp>
        <p:nvSpPr>
          <p:cNvPr id="28" name="TextBox 27"/>
          <p:cNvSpPr txBox="1"/>
          <p:nvPr/>
        </p:nvSpPr>
        <p:spPr>
          <a:xfrm>
            <a:off x="10424160" y="6510528"/>
            <a:ext cx="1280160" cy="256032"/>
          </a:xfrm>
          <a:prstGeom prst="rect">
            <a:avLst/>
          </a:prstGeom>
          <a:noFill/>
        </p:spPr>
        <p:txBody>
          <a:bodyPr wrap="square" anchor="t"/>
          <a:lstStyle/>
          <a:p>
            <a:pPr algn="r"/>
            <a:r>
              <a:rPr sz="1100" b="0">
                <a:solidFill>
                  <a:srgbClr val="94A3B8"/>
                </a:solidFill>
                <a:latin typeface="Calibri"/>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200" b="1">
                <a:solidFill>
                  <a:srgbClr val="4FD1C5"/>
                </a:solidFill>
                <a:latin typeface="Calibri"/>
              </a:rPr>
              <a:t>4. TECHNICAL ARCHITECTURE</a:t>
            </a:r>
          </a:p>
        </p:txBody>
      </p:sp>
      <p:sp>
        <p:nvSpPr>
          <p:cNvPr id="6" name="TextBox 5"/>
          <p:cNvSpPr txBox="1"/>
          <p:nvPr/>
        </p:nvSpPr>
        <p:spPr>
          <a:xfrm>
            <a:off x="502920" y="530352"/>
            <a:ext cx="11155680" cy="640080"/>
          </a:xfrm>
          <a:prstGeom prst="rect">
            <a:avLst/>
          </a:prstGeom>
          <a:noFill/>
        </p:spPr>
        <p:txBody>
          <a:bodyPr wrap="square" anchor="t"/>
          <a:lstStyle/>
          <a:p>
            <a:pPr algn="l"/>
            <a:r>
              <a:rPr sz="2800" b="1">
                <a:solidFill>
                  <a:srgbClr val="F8FAFC"/>
                </a:solidFill>
                <a:latin typeface="Calibri"/>
              </a:rPr>
              <a:t>Next.js  +  PostgreSQL  +  Nokia NaC  +  AI Agent</a:t>
            </a:r>
          </a:p>
        </p:txBody>
      </p:sp>
      <p:sp>
        <p:nvSpPr>
          <p:cNvPr id="7" name="Rounded Rectangle 6"/>
          <p:cNvSpPr/>
          <p:nvPr/>
        </p:nvSpPr>
        <p:spPr>
          <a:xfrm>
            <a:off x="457200" y="1325880"/>
            <a:ext cx="11247120" cy="105156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90472"/>
            <a:ext cx="10881360" cy="777239"/>
          </a:xfrm>
          <a:prstGeom prst="rect">
            <a:avLst/>
          </a:prstGeom>
          <a:noFill/>
        </p:spPr>
        <p:txBody>
          <a:bodyPr wrap="square" anchor="t"/>
          <a:lstStyle/>
          <a:p>
            <a:pPr algn="l"/>
            <a:r>
              <a:rPr sz="1400" b="1">
                <a:solidFill>
                  <a:srgbClr val="F8FAFC"/>
                </a:solidFill>
                <a:latin typeface="Calibri"/>
              </a:rPr>
              <a:t>Merchant app  ·  Next.js / TypeScript  ·  Arabic RTL + English  ·  Dashboard, advisor, upload, export</a:t>
            </a:r>
          </a:p>
        </p:txBody>
      </p:sp>
      <p:sp>
        <p:nvSpPr>
          <p:cNvPr id="9" name="Rounded Rectangle 8"/>
          <p:cNvSpPr/>
          <p:nvPr/>
        </p:nvSpPr>
        <p:spPr>
          <a:xfrm>
            <a:off x="457200" y="2606040"/>
            <a:ext cx="5486400" cy="12344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70632"/>
            <a:ext cx="5120640" cy="960120"/>
          </a:xfrm>
          <a:prstGeom prst="rect">
            <a:avLst/>
          </a:prstGeom>
          <a:noFill/>
        </p:spPr>
        <p:txBody>
          <a:bodyPr wrap="square" anchor="t"/>
          <a:lstStyle/>
          <a:p>
            <a:pPr algn="l"/>
            <a:r>
              <a:rPr sz="1400" b="1">
                <a:solidFill>
                  <a:srgbClr val="F8FAFC"/>
                </a:solidFill>
                <a:latin typeface="Calibri"/>
              </a:rPr>
              <a:t>Smart Guard AI Agent
Orchestrates CAMARA tools + financial context
Allow / Step-up / Freeze</a:t>
            </a:r>
          </a:p>
        </p:txBody>
      </p:sp>
      <p:sp>
        <p:nvSpPr>
          <p:cNvPr id="11" name="Rounded Rectangle 10"/>
          <p:cNvSpPr/>
          <p:nvPr/>
        </p:nvSpPr>
        <p:spPr>
          <a:xfrm>
            <a:off x="6217920" y="2606040"/>
            <a:ext cx="5486400" cy="12344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770632"/>
            <a:ext cx="5120640" cy="960120"/>
          </a:xfrm>
          <a:prstGeom prst="rect">
            <a:avLst/>
          </a:prstGeom>
          <a:noFill/>
        </p:spPr>
        <p:txBody>
          <a:bodyPr wrap="square" anchor="t"/>
          <a:lstStyle/>
          <a:p>
            <a:pPr algn="l"/>
            <a:r>
              <a:rPr sz="1400" b="1">
                <a:solidFill>
                  <a:srgbClr val="F8FAFC"/>
                </a:solidFill>
                <a:latin typeface="Calibri"/>
              </a:rPr>
              <a:t>Financial engine
Parse Excel/CSV/PDF · P&amp;L · leaks · Q&amp;A on open file</a:t>
            </a:r>
          </a:p>
        </p:txBody>
      </p:sp>
      <p:sp>
        <p:nvSpPr>
          <p:cNvPr id="13" name="Rounded Rectangle 12"/>
          <p:cNvSpPr/>
          <p:nvPr/>
        </p:nvSpPr>
        <p:spPr>
          <a:xfrm>
            <a:off x="457200" y="4069080"/>
            <a:ext cx="3657600" cy="12344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233672"/>
            <a:ext cx="3291840" cy="960120"/>
          </a:xfrm>
          <a:prstGeom prst="rect">
            <a:avLst/>
          </a:prstGeom>
          <a:noFill/>
        </p:spPr>
        <p:txBody>
          <a:bodyPr wrap="square" anchor="t"/>
          <a:lstStyle/>
          <a:p>
            <a:pPr algn="l"/>
            <a:r>
              <a:rPr sz="1400" b="1">
                <a:solidFill>
                  <a:srgbClr val="F8FAFC"/>
                </a:solidFill>
                <a:latin typeface="Calibri"/>
              </a:rPr>
              <a:t>PostgreSQL
Users, files, P&amp;L,
risk event log</a:t>
            </a:r>
          </a:p>
        </p:txBody>
      </p:sp>
      <p:sp>
        <p:nvSpPr>
          <p:cNvPr id="15" name="Rounded Rectangle 14"/>
          <p:cNvSpPr/>
          <p:nvPr/>
        </p:nvSpPr>
        <p:spPr>
          <a:xfrm>
            <a:off x="4297680" y="4069080"/>
            <a:ext cx="3657600" cy="12344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4233672"/>
            <a:ext cx="3291840" cy="960120"/>
          </a:xfrm>
          <a:prstGeom prst="rect">
            <a:avLst/>
          </a:prstGeom>
          <a:noFill/>
        </p:spPr>
        <p:txBody>
          <a:bodyPr wrap="square" anchor="t"/>
          <a:lstStyle/>
          <a:p>
            <a:pPr algn="l"/>
            <a:r>
              <a:rPr sz="1400" b="1">
                <a:solidFill>
                  <a:srgbClr val="F8FAFC"/>
                </a:solidFill>
                <a:latin typeface="Calibri"/>
              </a:rPr>
              <a:t>Nokia Network-as-Code
Single developer path to
operator CAMARA APIs</a:t>
            </a:r>
          </a:p>
        </p:txBody>
      </p:sp>
      <p:sp>
        <p:nvSpPr>
          <p:cNvPr id="17" name="Rounded Rectangle 16"/>
          <p:cNvSpPr/>
          <p:nvPr/>
        </p:nvSpPr>
        <p:spPr>
          <a:xfrm>
            <a:off x="8138160" y="4069080"/>
            <a:ext cx="3566160" cy="12344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4233672"/>
            <a:ext cx="3200400" cy="960120"/>
          </a:xfrm>
          <a:prstGeom prst="rect">
            <a:avLst/>
          </a:prstGeom>
          <a:noFill/>
        </p:spPr>
        <p:txBody>
          <a:bodyPr wrap="square" anchor="t"/>
          <a:lstStyle/>
          <a:p>
            <a:pPr algn="l"/>
            <a:r>
              <a:rPr sz="1400" b="1">
                <a:solidFill>
                  <a:srgbClr val="F8FAFC"/>
                </a:solidFill>
                <a:latin typeface="Calibri"/>
              </a:rPr>
              <a:t>CAMARA
SIM Swap · Number Verif.
Location Verification</a:t>
            </a:r>
          </a:p>
        </p:txBody>
      </p:sp>
      <p:sp>
        <p:nvSpPr>
          <p:cNvPr id="19" name="TextBox 18"/>
          <p:cNvSpPr txBox="1"/>
          <p:nvPr/>
        </p:nvSpPr>
        <p:spPr>
          <a:xfrm>
            <a:off x="502920" y="5486400"/>
            <a:ext cx="11155680" cy="777240"/>
          </a:xfrm>
          <a:prstGeom prst="rect">
            <a:avLst/>
          </a:prstGeom>
          <a:noFill/>
        </p:spPr>
        <p:txBody>
          <a:bodyPr wrap="square" anchor="t"/>
          <a:lstStyle/>
          <a:p>
            <a:pPr algn="l"/>
            <a:r>
              <a:rPr sz="1400" b="0">
                <a:solidFill>
                  <a:srgbClr val="94A3B8"/>
                </a:solidFill>
                <a:latin typeface="Calibri"/>
              </a:rPr>
              <a:t>The agent is the only path to login step-up, financial file upload and report export. Prototype testing runs on Nokia Network-as-Code developer portal simulators.</a:t>
            </a:r>
          </a:p>
        </p:txBody>
      </p:sp>
      <p:sp>
        <p:nvSpPr>
          <p:cNvPr id="20" name="TextBox 19"/>
          <p:cNvSpPr txBox="1"/>
          <p:nvPr/>
        </p:nvSpPr>
        <p:spPr>
          <a:xfrm>
            <a:off x="457200" y="6510528"/>
            <a:ext cx="7315200" cy="256032"/>
          </a:xfrm>
          <a:prstGeom prst="rect">
            <a:avLst/>
          </a:prstGeom>
          <a:noFill/>
        </p:spPr>
        <p:txBody>
          <a:bodyPr wrap="square" anchor="t"/>
          <a:lstStyle/>
          <a:p>
            <a:pPr algn="l"/>
            <a:r>
              <a:rPr sz="1100" b="0">
                <a:solidFill>
                  <a:srgbClr val="94A3B8"/>
                </a:solidFill>
                <a:latin typeface="Calibri"/>
              </a:rPr>
              <a:t>Smart Profits  ·  GSMA MENA Ignite  ·  Theme 4</a:t>
            </a:r>
          </a:p>
        </p:txBody>
      </p:sp>
      <p:sp>
        <p:nvSpPr>
          <p:cNvPr id="21" name="TextBox 20"/>
          <p:cNvSpPr txBox="1"/>
          <p:nvPr/>
        </p:nvSpPr>
        <p:spPr>
          <a:xfrm>
            <a:off x="10424160" y="6510528"/>
            <a:ext cx="1280160" cy="256032"/>
          </a:xfrm>
          <a:prstGeom prst="rect">
            <a:avLst/>
          </a:prstGeom>
          <a:noFill/>
        </p:spPr>
        <p:txBody>
          <a:bodyPr wrap="square" anchor="t"/>
          <a:lstStyle/>
          <a:p>
            <a:pPr algn="r"/>
            <a:r>
              <a:rPr sz="1100" b="0">
                <a:solidFill>
                  <a:srgbClr val="94A3B8"/>
                </a:solidFill>
                <a:latin typeface="Calibri"/>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200" b="1">
                <a:solidFill>
                  <a:srgbClr val="4FD1C5"/>
                </a:solidFill>
                <a:latin typeface="Calibri"/>
              </a:rPr>
              <a:t>5. BUSINESS MODEL &amp; MONETIZATION</a:t>
            </a:r>
          </a:p>
        </p:txBody>
      </p:sp>
      <p:sp>
        <p:nvSpPr>
          <p:cNvPr id="6" name="TextBox 5"/>
          <p:cNvSpPr txBox="1"/>
          <p:nvPr/>
        </p:nvSpPr>
        <p:spPr>
          <a:xfrm>
            <a:off x="502920" y="530352"/>
            <a:ext cx="11155680" cy="640080"/>
          </a:xfrm>
          <a:prstGeom prst="rect">
            <a:avLst/>
          </a:prstGeom>
          <a:noFill/>
        </p:spPr>
        <p:txBody>
          <a:bodyPr wrap="square" anchor="t"/>
          <a:lstStyle/>
          <a:p>
            <a:pPr algn="l"/>
            <a:r>
              <a:rPr sz="2800" b="1">
                <a:solidFill>
                  <a:srgbClr val="F8FAFC"/>
                </a:solidFill>
                <a:latin typeface="Calibri"/>
              </a:rPr>
              <a:t>Try the books. Then pay for the guard.</a:t>
            </a:r>
          </a:p>
        </p:txBody>
      </p:sp>
      <p:sp>
        <p:nvSpPr>
          <p:cNvPr id="7" name="Rounded Rectangle 6"/>
          <p:cNvSpPr/>
          <p:nvPr/>
        </p:nvSpPr>
        <p:spPr>
          <a:xfrm>
            <a:off x="457200" y="1325880"/>
            <a:ext cx="3611880" cy="30632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481328"/>
            <a:ext cx="3200400" cy="320040"/>
          </a:xfrm>
          <a:prstGeom prst="rect">
            <a:avLst/>
          </a:prstGeom>
          <a:noFill/>
        </p:spPr>
        <p:txBody>
          <a:bodyPr wrap="square" anchor="t"/>
          <a:lstStyle/>
          <a:p>
            <a:pPr algn="l"/>
            <a:r>
              <a:rPr sz="1100" b="1">
                <a:solidFill>
                  <a:srgbClr val="4FD1C5"/>
                </a:solidFill>
                <a:latin typeface="Calibri"/>
              </a:rPr>
              <a:t>FULL PRODUCT</a:t>
            </a:r>
          </a:p>
        </p:txBody>
      </p:sp>
      <p:sp>
        <p:nvSpPr>
          <p:cNvPr id="9" name="TextBox 8"/>
          <p:cNvSpPr txBox="1"/>
          <p:nvPr/>
        </p:nvSpPr>
        <p:spPr>
          <a:xfrm>
            <a:off x="658368" y="1828800"/>
            <a:ext cx="3200400" cy="640080"/>
          </a:xfrm>
          <a:prstGeom prst="rect">
            <a:avLst/>
          </a:prstGeom>
          <a:noFill/>
        </p:spPr>
        <p:txBody>
          <a:bodyPr wrap="square" anchor="t"/>
          <a:lstStyle/>
          <a:p>
            <a:pPr algn="l"/>
            <a:r>
              <a:rPr sz="2000" b="1">
                <a:solidFill>
                  <a:srgbClr val="E8C56B"/>
                </a:solidFill>
                <a:latin typeface="Calibri"/>
              </a:rPr>
              <a:t>7-day free trial</a:t>
            </a:r>
          </a:p>
        </p:txBody>
      </p:sp>
      <p:sp>
        <p:nvSpPr>
          <p:cNvPr id="10" name="TextBox 9"/>
          <p:cNvSpPr txBox="1"/>
          <p:nvPr/>
        </p:nvSpPr>
        <p:spPr>
          <a:xfrm>
            <a:off x="658368" y="2514600"/>
            <a:ext cx="3200400" cy="1645920"/>
          </a:xfrm>
          <a:prstGeom prst="rect">
            <a:avLst/>
          </a:prstGeom>
          <a:noFill/>
        </p:spPr>
        <p:txBody>
          <a:bodyPr wrap="square" anchor="t"/>
          <a:lstStyle/>
          <a:p>
            <a:pPr algn="l"/>
            <a:r>
              <a:rPr sz="1400" b="0">
                <a:solidFill>
                  <a:srgbClr val="F8FAFC"/>
                </a:solidFill>
                <a:latin typeface="Calibri"/>
              </a:rPr>
              <a:t>Upload, diagnosis, bilingual advisor and Smart Guard demo. No card required to start. Converts into Pro unless cancelled.</a:t>
            </a:r>
          </a:p>
        </p:txBody>
      </p:sp>
      <p:sp>
        <p:nvSpPr>
          <p:cNvPr id="11" name="Rounded Rectangle 10"/>
          <p:cNvSpPr/>
          <p:nvPr/>
        </p:nvSpPr>
        <p:spPr>
          <a:xfrm>
            <a:off x="4297680" y="1325880"/>
            <a:ext cx="3611880" cy="30632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1481328"/>
            <a:ext cx="3200400" cy="320040"/>
          </a:xfrm>
          <a:prstGeom prst="rect">
            <a:avLst/>
          </a:prstGeom>
          <a:noFill/>
        </p:spPr>
        <p:txBody>
          <a:bodyPr wrap="square" anchor="t"/>
          <a:lstStyle/>
          <a:p>
            <a:pPr algn="l"/>
            <a:r>
              <a:rPr sz="1100" b="1">
                <a:solidFill>
                  <a:srgbClr val="4FD1C5"/>
                </a:solidFill>
                <a:latin typeface="Calibri"/>
              </a:rPr>
              <a:t>THE MERCHANT PLAN</a:t>
            </a:r>
          </a:p>
        </p:txBody>
      </p:sp>
      <p:sp>
        <p:nvSpPr>
          <p:cNvPr id="13" name="TextBox 12"/>
          <p:cNvSpPr txBox="1"/>
          <p:nvPr/>
        </p:nvSpPr>
        <p:spPr>
          <a:xfrm>
            <a:off x="4498848" y="1828800"/>
            <a:ext cx="3200400" cy="640080"/>
          </a:xfrm>
          <a:prstGeom prst="rect">
            <a:avLst/>
          </a:prstGeom>
          <a:noFill/>
        </p:spPr>
        <p:txBody>
          <a:bodyPr wrap="square" anchor="t"/>
          <a:lstStyle/>
          <a:p>
            <a:pPr algn="l"/>
            <a:r>
              <a:rPr sz="2000" b="1">
                <a:solidFill>
                  <a:srgbClr val="E8C56B"/>
                </a:solidFill>
                <a:latin typeface="Calibri"/>
              </a:rPr>
              <a:t>Pro  ·  $49 / month</a:t>
            </a:r>
          </a:p>
        </p:txBody>
      </p:sp>
      <p:sp>
        <p:nvSpPr>
          <p:cNvPr id="14" name="TextBox 13"/>
          <p:cNvSpPr txBox="1"/>
          <p:nvPr/>
        </p:nvSpPr>
        <p:spPr>
          <a:xfrm>
            <a:off x="4498848" y="2514600"/>
            <a:ext cx="3200400" cy="1645920"/>
          </a:xfrm>
          <a:prstGeom prst="rect">
            <a:avLst/>
          </a:prstGeom>
          <a:noFill/>
        </p:spPr>
        <p:txBody>
          <a:bodyPr wrap="square" anchor="t"/>
          <a:lstStyle/>
          <a:p>
            <a:pPr algn="l"/>
            <a:r>
              <a:rPr sz="1400" b="0">
                <a:solidFill>
                  <a:srgbClr val="F8FAFC"/>
                </a:solidFill>
                <a:latin typeface="Calibri"/>
              </a:rPr>
              <a:t>Ongoing P&amp;L, profit leaks, inventory advice, open-file Q&amp;A, and telco-secured login / upload / export for a single store.</a:t>
            </a:r>
          </a:p>
        </p:txBody>
      </p:sp>
      <p:sp>
        <p:nvSpPr>
          <p:cNvPr id="15" name="Rounded Rectangle 14"/>
          <p:cNvSpPr/>
          <p:nvPr/>
        </p:nvSpPr>
        <p:spPr>
          <a:xfrm>
            <a:off x="8138160" y="1325880"/>
            <a:ext cx="3611880" cy="30632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1481328"/>
            <a:ext cx="3200400" cy="320040"/>
          </a:xfrm>
          <a:prstGeom prst="rect">
            <a:avLst/>
          </a:prstGeom>
          <a:noFill/>
        </p:spPr>
        <p:txBody>
          <a:bodyPr wrap="square" anchor="t"/>
          <a:lstStyle/>
          <a:p>
            <a:pPr algn="l"/>
            <a:r>
              <a:rPr sz="1100" b="1">
                <a:solidFill>
                  <a:srgbClr val="4FD1C5"/>
                </a:solidFill>
                <a:latin typeface="Calibri"/>
              </a:rPr>
              <a:t>MULTI-BRANCH</a:t>
            </a:r>
          </a:p>
        </p:txBody>
      </p:sp>
      <p:sp>
        <p:nvSpPr>
          <p:cNvPr id="17" name="TextBox 16"/>
          <p:cNvSpPr txBox="1"/>
          <p:nvPr/>
        </p:nvSpPr>
        <p:spPr>
          <a:xfrm>
            <a:off x="8339328" y="1828800"/>
            <a:ext cx="3200400" cy="640080"/>
          </a:xfrm>
          <a:prstGeom prst="rect">
            <a:avLst/>
          </a:prstGeom>
          <a:noFill/>
        </p:spPr>
        <p:txBody>
          <a:bodyPr wrap="square" anchor="t"/>
          <a:lstStyle/>
          <a:p>
            <a:pPr algn="l"/>
            <a:r>
              <a:rPr sz="2000" b="1">
                <a:solidFill>
                  <a:srgbClr val="E8C56B"/>
                </a:solidFill>
                <a:latin typeface="Calibri"/>
              </a:rPr>
              <a:t>Business  ·  $99 / month</a:t>
            </a:r>
          </a:p>
        </p:txBody>
      </p:sp>
      <p:sp>
        <p:nvSpPr>
          <p:cNvPr id="18" name="TextBox 17"/>
          <p:cNvSpPr txBox="1"/>
          <p:nvPr/>
        </p:nvSpPr>
        <p:spPr>
          <a:xfrm>
            <a:off x="8339328" y="2514600"/>
            <a:ext cx="3200400" cy="1645920"/>
          </a:xfrm>
          <a:prstGeom prst="rect">
            <a:avLst/>
          </a:prstGeom>
          <a:noFill/>
        </p:spPr>
        <p:txBody>
          <a:bodyPr wrap="square" anchor="t"/>
          <a:lstStyle/>
          <a:p>
            <a:pPr algn="l"/>
            <a:r>
              <a:rPr sz="1400" b="0">
                <a:solidFill>
                  <a:srgbClr val="F8FAFC"/>
                </a:solidFill>
                <a:latin typeface="Calibri"/>
              </a:rPr>
              <a:t>Several locations, tighter Location Verification geofences, team seats, and priority freeze review.</a:t>
            </a:r>
          </a:p>
        </p:txBody>
      </p:sp>
      <p:sp>
        <p:nvSpPr>
          <p:cNvPr id="19" name="Rounded Rectangle 18"/>
          <p:cNvSpPr/>
          <p:nvPr/>
        </p:nvSpPr>
        <p:spPr>
          <a:xfrm>
            <a:off x="457200" y="4572000"/>
            <a:ext cx="11247120" cy="160020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709160"/>
            <a:ext cx="10972800" cy="320040"/>
          </a:xfrm>
          <a:prstGeom prst="rect">
            <a:avLst/>
          </a:prstGeom>
          <a:noFill/>
        </p:spPr>
        <p:txBody>
          <a:bodyPr wrap="square" anchor="t"/>
          <a:lstStyle/>
          <a:p>
            <a:pPr algn="l"/>
            <a:r>
              <a:rPr sz="1600" b="1">
                <a:solidFill>
                  <a:srgbClr val="E8C56B"/>
                </a:solidFill>
                <a:latin typeface="Calibri"/>
              </a:rPr>
              <a:t>Why this monetizes Open Gateway</a:t>
            </a:r>
          </a:p>
        </p:txBody>
      </p:sp>
      <p:sp>
        <p:nvSpPr>
          <p:cNvPr id="21" name="TextBox 20"/>
          <p:cNvSpPr txBox="1"/>
          <p:nvPr/>
        </p:nvSpPr>
        <p:spPr>
          <a:xfrm>
            <a:off x="685800" y="5074920"/>
            <a:ext cx="10789920" cy="960120"/>
          </a:xfrm>
          <a:prstGeom prst="rect">
            <a:avLst/>
          </a:prstGeom>
          <a:noFill/>
        </p:spPr>
        <p:txBody>
          <a:bodyPr wrap="square" anchor="t"/>
          <a:lstStyle/>
          <a:p>
            <a:pPr algn="l"/>
            <a:r>
              <a:rPr sz="1400" b="0">
                <a:solidFill>
                  <a:srgbClr val="F8FAFC"/>
                </a:solidFill>
                <a:latin typeface="Calibri"/>
              </a:rPr>
              <a:t>SaaS subscription is the merchant revenue. CAMARA calls are the security cost of goods — and a future B2B2X path with operators (usage-based Number Verification / SIM Swap / Location on every sensitive action). Smart Profits is incubated as a product line of Bitsandbytesdude, not a one-hack demo.</a:t>
            </a:r>
          </a:p>
        </p:txBody>
      </p:sp>
      <p:sp>
        <p:nvSpPr>
          <p:cNvPr id="22" name="TextBox 21"/>
          <p:cNvSpPr txBox="1"/>
          <p:nvPr/>
        </p:nvSpPr>
        <p:spPr>
          <a:xfrm>
            <a:off x="457200" y="6510528"/>
            <a:ext cx="7315200" cy="256032"/>
          </a:xfrm>
          <a:prstGeom prst="rect">
            <a:avLst/>
          </a:prstGeom>
          <a:noFill/>
        </p:spPr>
        <p:txBody>
          <a:bodyPr wrap="square" anchor="t"/>
          <a:lstStyle/>
          <a:p>
            <a:pPr algn="l"/>
            <a:r>
              <a:rPr sz="1100" b="0">
                <a:solidFill>
                  <a:srgbClr val="94A3B8"/>
                </a:solidFill>
                <a:latin typeface="Calibri"/>
              </a:rPr>
              <a:t>Smart Profits  ·  GSMA MENA Ignite  ·  Theme 4</a:t>
            </a:r>
          </a:p>
        </p:txBody>
      </p:sp>
      <p:sp>
        <p:nvSpPr>
          <p:cNvPr id="23" name="TextBox 22"/>
          <p:cNvSpPr txBox="1"/>
          <p:nvPr/>
        </p:nvSpPr>
        <p:spPr>
          <a:xfrm>
            <a:off x="10424160" y="6510528"/>
            <a:ext cx="1280160" cy="256032"/>
          </a:xfrm>
          <a:prstGeom prst="rect">
            <a:avLst/>
          </a:prstGeom>
          <a:noFill/>
        </p:spPr>
        <p:txBody>
          <a:bodyPr wrap="square" anchor="t"/>
          <a:lstStyle/>
          <a:p>
            <a:pPr algn="r"/>
            <a:r>
              <a:rPr sz="1100" b="0">
                <a:solidFill>
                  <a:srgbClr val="94A3B8"/>
                </a:solidFill>
                <a:latin typeface="Calibri"/>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200" b="1">
                <a:solidFill>
                  <a:srgbClr val="4FD1C5"/>
                </a:solidFill>
                <a:latin typeface="Calibri"/>
              </a:rPr>
              <a:t>6. DEMO SCREENSHOTS</a:t>
            </a:r>
          </a:p>
        </p:txBody>
      </p:sp>
      <p:sp>
        <p:nvSpPr>
          <p:cNvPr id="6" name="TextBox 5"/>
          <p:cNvSpPr txBox="1"/>
          <p:nvPr/>
        </p:nvSpPr>
        <p:spPr>
          <a:xfrm>
            <a:off x="502920" y="530352"/>
            <a:ext cx="11155680" cy="640080"/>
          </a:xfrm>
          <a:prstGeom prst="rect">
            <a:avLst/>
          </a:prstGeom>
          <a:noFill/>
        </p:spPr>
        <p:txBody>
          <a:bodyPr wrap="square" anchor="t"/>
          <a:lstStyle/>
          <a:p>
            <a:pPr algn="l"/>
            <a:r>
              <a:rPr sz="2800" b="1">
                <a:solidFill>
                  <a:srgbClr val="F8FAFC"/>
                </a:solidFill>
                <a:latin typeface="Calibri"/>
              </a:rPr>
              <a:t>A working merchant product — not a slide-only idea</a:t>
            </a:r>
          </a:p>
        </p:txBody>
      </p:sp>
      <p:pic>
        <p:nvPicPr>
          <p:cNvPr id="7" name="Picture 6" descr="02-dashboard.png"/>
          <p:cNvPicPr>
            <a:picLocks noChangeAspect="1"/>
          </p:cNvPicPr>
          <p:nvPr/>
        </p:nvPicPr>
        <p:blipFill>
          <a:blip r:embed="rId2"/>
          <a:stretch>
            <a:fillRect/>
          </a:stretch>
        </p:blipFill>
        <p:spPr>
          <a:xfrm>
            <a:off x="411480" y="1234440"/>
            <a:ext cx="5623560" cy="2057400"/>
          </a:xfrm>
          <a:prstGeom prst="rect">
            <a:avLst/>
          </a:prstGeom>
        </p:spPr>
      </p:pic>
      <p:sp>
        <p:nvSpPr>
          <p:cNvPr id="8" name="TextBox 7"/>
          <p:cNvSpPr txBox="1"/>
          <p:nvPr/>
        </p:nvSpPr>
        <p:spPr>
          <a:xfrm>
            <a:off x="411480" y="3300983"/>
            <a:ext cx="5623560" cy="292608"/>
          </a:xfrm>
          <a:prstGeom prst="rect">
            <a:avLst/>
          </a:prstGeom>
          <a:noFill/>
        </p:spPr>
        <p:txBody>
          <a:bodyPr wrap="square" anchor="t"/>
          <a:lstStyle/>
          <a:p>
            <a:pPr algn="l"/>
            <a:r>
              <a:rPr sz="1200" b="1">
                <a:solidFill>
                  <a:srgbClr val="4FD1C5"/>
                </a:solidFill>
                <a:latin typeface="Calibri"/>
              </a:rPr>
              <a:t>Dashboard — health, P&amp;L, phantom vs real profit</a:t>
            </a:r>
          </a:p>
        </p:txBody>
      </p:sp>
      <p:pic>
        <p:nvPicPr>
          <p:cNvPr id="9" name="Picture 8" descr="03-advisor.png"/>
          <p:cNvPicPr>
            <a:picLocks noChangeAspect="1"/>
          </p:cNvPicPr>
          <p:nvPr/>
        </p:nvPicPr>
        <p:blipFill>
          <a:blip r:embed="rId3"/>
          <a:stretch>
            <a:fillRect/>
          </a:stretch>
        </p:blipFill>
        <p:spPr>
          <a:xfrm>
            <a:off x="6263640" y="1234440"/>
            <a:ext cx="5623560" cy="2057400"/>
          </a:xfrm>
          <a:prstGeom prst="rect">
            <a:avLst/>
          </a:prstGeom>
        </p:spPr>
      </p:pic>
      <p:sp>
        <p:nvSpPr>
          <p:cNvPr id="10" name="TextBox 9"/>
          <p:cNvSpPr txBox="1"/>
          <p:nvPr/>
        </p:nvSpPr>
        <p:spPr>
          <a:xfrm>
            <a:off x="6263640" y="3300983"/>
            <a:ext cx="5623560" cy="292608"/>
          </a:xfrm>
          <a:prstGeom prst="rect">
            <a:avLst/>
          </a:prstGeom>
          <a:noFill/>
        </p:spPr>
        <p:txBody>
          <a:bodyPr wrap="square" anchor="t"/>
          <a:lstStyle/>
          <a:p>
            <a:pPr algn="l"/>
            <a:r>
              <a:rPr sz="1200" b="1">
                <a:solidFill>
                  <a:srgbClr val="4FD1C5"/>
                </a:solidFill>
                <a:latin typeface="Calibri"/>
              </a:rPr>
              <a:t>Advisor — file-grounded Q&amp;A</a:t>
            </a:r>
          </a:p>
        </p:txBody>
      </p:sp>
      <p:pic>
        <p:nvPicPr>
          <p:cNvPr id="11" name="Picture 10" descr="04-data.png"/>
          <p:cNvPicPr>
            <a:picLocks noChangeAspect="1"/>
          </p:cNvPicPr>
          <p:nvPr/>
        </p:nvPicPr>
        <p:blipFill>
          <a:blip r:embed="rId4"/>
          <a:stretch>
            <a:fillRect/>
          </a:stretch>
        </p:blipFill>
        <p:spPr>
          <a:xfrm>
            <a:off x="411480" y="3703320"/>
            <a:ext cx="5623560" cy="2057400"/>
          </a:xfrm>
          <a:prstGeom prst="rect">
            <a:avLst/>
          </a:prstGeom>
        </p:spPr>
      </p:pic>
      <p:sp>
        <p:nvSpPr>
          <p:cNvPr id="12" name="TextBox 11"/>
          <p:cNvSpPr txBox="1"/>
          <p:nvPr/>
        </p:nvSpPr>
        <p:spPr>
          <a:xfrm>
            <a:off x="411480" y="5769863"/>
            <a:ext cx="5623560" cy="292608"/>
          </a:xfrm>
          <a:prstGeom prst="rect">
            <a:avLst/>
          </a:prstGeom>
          <a:noFill/>
        </p:spPr>
        <p:txBody>
          <a:bodyPr wrap="square" anchor="t"/>
          <a:lstStyle/>
          <a:p>
            <a:pPr algn="l"/>
            <a:r>
              <a:rPr sz="1200" b="1">
                <a:solidFill>
                  <a:srgbClr val="4FD1C5"/>
                </a:solidFill>
                <a:latin typeface="Calibri"/>
              </a:rPr>
              <a:t>Files — messy Excel cleaned automatically</a:t>
            </a:r>
          </a:p>
        </p:txBody>
      </p:sp>
      <p:pic>
        <p:nvPicPr>
          <p:cNvPr id="13" name="Picture 12" descr="05-simulator.png"/>
          <p:cNvPicPr>
            <a:picLocks noChangeAspect="1"/>
          </p:cNvPicPr>
          <p:nvPr/>
        </p:nvPicPr>
        <p:blipFill>
          <a:blip r:embed="rId5"/>
          <a:stretch>
            <a:fillRect/>
          </a:stretch>
        </p:blipFill>
        <p:spPr>
          <a:xfrm>
            <a:off x="6263640" y="3703320"/>
            <a:ext cx="5623560" cy="2057400"/>
          </a:xfrm>
          <a:prstGeom prst="rect">
            <a:avLst/>
          </a:prstGeom>
        </p:spPr>
      </p:pic>
      <p:sp>
        <p:nvSpPr>
          <p:cNvPr id="14" name="TextBox 13"/>
          <p:cNvSpPr txBox="1"/>
          <p:nvPr/>
        </p:nvSpPr>
        <p:spPr>
          <a:xfrm>
            <a:off x="6263640" y="5769863"/>
            <a:ext cx="5623560" cy="292608"/>
          </a:xfrm>
          <a:prstGeom prst="rect">
            <a:avLst/>
          </a:prstGeom>
          <a:noFill/>
        </p:spPr>
        <p:txBody>
          <a:bodyPr wrap="square" anchor="t"/>
          <a:lstStyle/>
          <a:p>
            <a:pPr algn="l"/>
            <a:r>
              <a:rPr sz="1200" b="1">
                <a:solidFill>
                  <a:srgbClr val="4FD1C5"/>
                </a:solidFill>
                <a:latin typeface="Calibri"/>
              </a:rPr>
              <a:t>Simulator — what-if pricing and forecast</a:t>
            </a:r>
          </a:p>
        </p:txBody>
      </p:sp>
      <p:sp>
        <p:nvSpPr>
          <p:cNvPr id="15" name="TextBox 14"/>
          <p:cNvSpPr txBox="1"/>
          <p:nvPr/>
        </p:nvSpPr>
        <p:spPr>
          <a:xfrm>
            <a:off x="457200" y="6510528"/>
            <a:ext cx="7315200" cy="256032"/>
          </a:xfrm>
          <a:prstGeom prst="rect">
            <a:avLst/>
          </a:prstGeom>
          <a:noFill/>
        </p:spPr>
        <p:txBody>
          <a:bodyPr wrap="square" anchor="t"/>
          <a:lstStyle/>
          <a:p>
            <a:pPr algn="l"/>
            <a:r>
              <a:rPr sz="1100" b="0">
                <a:solidFill>
                  <a:srgbClr val="94A3B8"/>
                </a:solidFill>
                <a:latin typeface="Calibri"/>
              </a:rPr>
              <a:t>Smart Profits  ·  GSMA MENA Ignite  ·  Theme 4</a:t>
            </a:r>
          </a:p>
        </p:txBody>
      </p:sp>
      <p:sp>
        <p:nvSpPr>
          <p:cNvPr id="16" name="TextBox 15"/>
          <p:cNvSpPr txBox="1"/>
          <p:nvPr/>
        </p:nvSpPr>
        <p:spPr>
          <a:xfrm>
            <a:off x="10424160" y="6510528"/>
            <a:ext cx="1280160" cy="256032"/>
          </a:xfrm>
          <a:prstGeom prst="rect">
            <a:avLst/>
          </a:prstGeom>
          <a:noFill/>
        </p:spPr>
        <p:txBody>
          <a:bodyPr wrap="square" anchor="t"/>
          <a:lstStyle/>
          <a:p>
            <a:pPr algn="r"/>
            <a:r>
              <a:rPr sz="1100" b="0">
                <a:solidFill>
                  <a:srgbClr val="94A3B8"/>
                </a:solidFill>
                <a:latin typeface="Calibri"/>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200" b="1">
                <a:solidFill>
                  <a:srgbClr val="4FD1C5"/>
                </a:solidFill>
                <a:latin typeface="Calibri"/>
              </a:rPr>
              <a:t>6. DEMO WALKTHROUGH &amp; LINKS</a:t>
            </a:r>
          </a:p>
        </p:txBody>
      </p:sp>
      <p:sp>
        <p:nvSpPr>
          <p:cNvPr id="6" name="TextBox 5"/>
          <p:cNvSpPr txBox="1"/>
          <p:nvPr/>
        </p:nvSpPr>
        <p:spPr>
          <a:xfrm>
            <a:off x="502920" y="530352"/>
            <a:ext cx="11155680" cy="640080"/>
          </a:xfrm>
          <a:prstGeom prst="rect">
            <a:avLst/>
          </a:prstGeom>
          <a:noFill/>
        </p:spPr>
        <p:txBody>
          <a:bodyPr wrap="square" anchor="t"/>
          <a:lstStyle/>
          <a:p>
            <a:pPr algn="l"/>
            <a:r>
              <a:rPr sz="2800" b="1">
                <a:solidFill>
                  <a:srgbClr val="F8FAFC"/>
                </a:solidFill>
                <a:latin typeface="Calibri"/>
              </a:rPr>
              <a:t>What judges will see in three minutes</a:t>
            </a:r>
          </a:p>
        </p:txBody>
      </p:sp>
      <p:sp>
        <p:nvSpPr>
          <p:cNvPr id="7" name="Rounded Rectangle 6"/>
          <p:cNvSpPr/>
          <p:nvPr/>
        </p:nvSpPr>
        <p:spPr>
          <a:xfrm>
            <a:off x="457200" y="1280160"/>
            <a:ext cx="11247120" cy="1024128"/>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89888"/>
            <a:ext cx="10972800" cy="292608"/>
          </a:xfrm>
          <a:prstGeom prst="rect">
            <a:avLst/>
          </a:prstGeom>
          <a:noFill/>
        </p:spPr>
        <p:txBody>
          <a:bodyPr wrap="square" anchor="t"/>
          <a:lstStyle/>
          <a:p>
            <a:pPr algn="l"/>
            <a:r>
              <a:rPr sz="1800" b="1">
                <a:solidFill>
                  <a:srgbClr val="E8C56B"/>
                </a:solidFill>
                <a:latin typeface="Calibri"/>
              </a:rPr>
              <a:t>1  Analyse</a:t>
            </a:r>
          </a:p>
        </p:txBody>
      </p:sp>
      <p:sp>
        <p:nvSpPr>
          <p:cNvPr id="9" name="TextBox 8"/>
          <p:cNvSpPr txBox="1"/>
          <p:nvPr/>
        </p:nvSpPr>
        <p:spPr>
          <a:xfrm>
            <a:off x="685800" y="1719072"/>
            <a:ext cx="10789920" cy="457200"/>
          </a:xfrm>
          <a:prstGeom prst="rect">
            <a:avLst/>
          </a:prstGeom>
          <a:noFill/>
        </p:spPr>
        <p:txBody>
          <a:bodyPr wrap="square" anchor="t"/>
          <a:lstStyle/>
          <a:p>
            <a:pPr algn="l"/>
            <a:r>
              <a:rPr sz="1500" b="0">
                <a:solidFill>
                  <a:srgbClr val="F8FAFC"/>
                </a:solidFill>
                <a:latin typeface="Calibri"/>
              </a:rPr>
              <a:t>Upload a messy furniture ledger. Ask the advisor for the highest-profit SKU. See phantom vs real net profit.</a:t>
            </a:r>
          </a:p>
        </p:txBody>
      </p:sp>
      <p:sp>
        <p:nvSpPr>
          <p:cNvPr id="10" name="Rounded Rectangle 9"/>
          <p:cNvSpPr/>
          <p:nvPr/>
        </p:nvSpPr>
        <p:spPr>
          <a:xfrm>
            <a:off x="457200" y="2423160"/>
            <a:ext cx="11247120" cy="1024128"/>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32888"/>
            <a:ext cx="10972800" cy="292608"/>
          </a:xfrm>
          <a:prstGeom prst="rect">
            <a:avLst/>
          </a:prstGeom>
          <a:noFill/>
        </p:spPr>
        <p:txBody>
          <a:bodyPr wrap="square" anchor="t"/>
          <a:lstStyle/>
          <a:p>
            <a:pPr algn="l"/>
            <a:r>
              <a:rPr sz="1800" b="1">
                <a:solidFill>
                  <a:srgbClr val="E8C56B"/>
                </a:solidFill>
                <a:latin typeface="Calibri"/>
              </a:rPr>
              <a:t>2  Attack</a:t>
            </a:r>
          </a:p>
        </p:txBody>
      </p:sp>
      <p:sp>
        <p:nvSpPr>
          <p:cNvPr id="12" name="TextBox 11"/>
          <p:cNvSpPr txBox="1"/>
          <p:nvPr/>
        </p:nvSpPr>
        <p:spPr>
          <a:xfrm>
            <a:off x="685800" y="2862072"/>
            <a:ext cx="10789920" cy="457200"/>
          </a:xfrm>
          <a:prstGeom prst="rect">
            <a:avLst/>
          </a:prstGeom>
          <a:noFill/>
        </p:spPr>
        <p:txBody>
          <a:bodyPr wrap="square" anchor="t"/>
          <a:lstStyle/>
          <a:p>
            <a:pPr algn="l"/>
            <a:r>
              <a:rPr sz="1500" b="0">
                <a:solidFill>
                  <a:srgbClr val="F8FAFC"/>
                </a:solidFill>
                <a:latin typeface="Calibri"/>
              </a:rPr>
              <a:t>Nokia NaC simulator: SIM Swap = true. Upload and export freeze. The agent explains why SMS OTP is untrusted.</a:t>
            </a:r>
          </a:p>
        </p:txBody>
      </p:sp>
      <p:sp>
        <p:nvSpPr>
          <p:cNvPr id="13" name="Rounded Rectangle 12"/>
          <p:cNvSpPr/>
          <p:nvPr/>
        </p:nvSpPr>
        <p:spPr>
          <a:xfrm>
            <a:off x="457200" y="3566160"/>
            <a:ext cx="11247120" cy="1024128"/>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675888"/>
            <a:ext cx="10972800" cy="292608"/>
          </a:xfrm>
          <a:prstGeom prst="rect">
            <a:avLst/>
          </a:prstGeom>
          <a:noFill/>
        </p:spPr>
        <p:txBody>
          <a:bodyPr wrap="square" anchor="t"/>
          <a:lstStyle/>
          <a:p>
            <a:pPr algn="l"/>
            <a:r>
              <a:rPr sz="1800" b="1">
                <a:solidFill>
                  <a:srgbClr val="E8C56B"/>
                </a:solidFill>
                <a:latin typeface="Calibri"/>
              </a:rPr>
              <a:t>3  Place</a:t>
            </a:r>
          </a:p>
        </p:txBody>
      </p:sp>
      <p:sp>
        <p:nvSpPr>
          <p:cNvPr id="15" name="TextBox 14"/>
          <p:cNvSpPr txBox="1"/>
          <p:nvPr/>
        </p:nvSpPr>
        <p:spPr>
          <a:xfrm>
            <a:off x="685800" y="4005072"/>
            <a:ext cx="10789920" cy="457200"/>
          </a:xfrm>
          <a:prstGeom prst="rect">
            <a:avLst/>
          </a:prstGeom>
          <a:noFill/>
        </p:spPr>
        <p:txBody>
          <a:bodyPr wrap="square" anchor="t"/>
          <a:lstStyle/>
          <a:p>
            <a:pPr algn="l"/>
            <a:r>
              <a:rPr sz="1500" b="0">
                <a:solidFill>
                  <a:srgbClr val="F8FAFC"/>
                </a:solidFill>
                <a:latin typeface="Calibri"/>
              </a:rPr>
              <a:t>Location mismatch vs store geofence. The financial file never lands. Number Verification recovers the trusted line.</a:t>
            </a:r>
          </a:p>
        </p:txBody>
      </p:sp>
      <p:sp>
        <p:nvSpPr>
          <p:cNvPr id="16" name="TextBox 15"/>
          <p:cNvSpPr txBox="1"/>
          <p:nvPr/>
        </p:nvSpPr>
        <p:spPr>
          <a:xfrm>
            <a:off x="502920" y="4846320"/>
            <a:ext cx="11155680" cy="1371600"/>
          </a:xfrm>
          <a:prstGeom prst="rect">
            <a:avLst/>
          </a:prstGeom>
          <a:noFill/>
        </p:spPr>
        <p:txBody>
          <a:bodyPr wrap="square" anchor="t"/>
          <a:lstStyle/>
          <a:p>
            <a:pPr algn="l"/>
            <a:r>
              <a:rPr sz="1500" b="0">
                <a:solidFill>
                  <a:srgbClr val="4FD1C5"/>
                </a:solidFill>
                <a:latin typeface="Calibri"/>
              </a:rPr>
              <a:t>Product repository:  https://github.com/BITSANDBYTESDUDE/Smart-Profits
Studio / company:     https://bitsandbytesdude.vercel.app/
Network layer:          Nokia Network-as-Code developer portal simulators (SIM Swap, Number Verification, Location Verification)</a:t>
            </a:r>
          </a:p>
        </p:txBody>
      </p:sp>
      <p:sp>
        <p:nvSpPr>
          <p:cNvPr id="17" name="TextBox 16"/>
          <p:cNvSpPr txBox="1"/>
          <p:nvPr/>
        </p:nvSpPr>
        <p:spPr>
          <a:xfrm>
            <a:off x="457200" y="6510528"/>
            <a:ext cx="7315200" cy="256032"/>
          </a:xfrm>
          <a:prstGeom prst="rect">
            <a:avLst/>
          </a:prstGeom>
          <a:noFill/>
        </p:spPr>
        <p:txBody>
          <a:bodyPr wrap="square" anchor="t"/>
          <a:lstStyle/>
          <a:p>
            <a:pPr algn="l"/>
            <a:r>
              <a:rPr sz="1100" b="0">
                <a:solidFill>
                  <a:srgbClr val="94A3B8"/>
                </a:solidFill>
                <a:latin typeface="Calibri"/>
              </a:rPr>
              <a:t>Smart Profits  ·  GSMA MENA Ignite  ·  Theme 4</a:t>
            </a:r>
          </a:p>
        </p:txBody>
      </p:sp>
      <p:sp>
        <p:nvSpPr>
          <p:cNvPr id="18" name="TextBox 17"/>
          <p:cNvSpPr txBox="1"/>
          <p:nvPr/>
        </p:nvSpPr>
        <p:spPr>
          <a:xfrm>
            <a:off x="10424160" y="6510528"/>
            <a:ext cx="1280160" cy="256032"/>
          </a:xfrm>
          <a:prstGeom prst="rect">
            <a:avLst/>
          </a:prstGeom>
          <a:noFill/>
        </p:spPr>
        <p:txBody>
          <a:bodyPr wrap="square" anchor="t"/>
          <a:lstStyle/>
          <a:p>
            <a:pPr algn="r"/>
            <a:r>
              <a:rPr sz="1100" b="0">
                <a:solidFill>
                  <a:srgbClr val="94A3B8"/>
                </a:solidFill>
                <a:latin typeface="Calibri"/>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10972800" cy="292608"/>
          </a:xfrm>
          <a:prstGeom prst="rect">
            <a:avLst/>
          </a:prstGeom>
          <a:noFill/>
        </p:spPr>
        <p:txBody>
          <a:bodyPr wrap="square" anchor="t"/>
          <a:lstStyle/>
          <a:p>
            <a:pPr algn="l"/>
            <a:r>
              <a:rPr sz="1200" b="1">
                <a:solidFill>
                  <a:srgbClr val="4FD1C5"/>
                </a:solidFill>
                <a:latin typeface="Calibri"/>
              </a:rPr>
              <a:t>7. TEAM BIOS AND ROLES</a:t>
            </a:r>
          </a:p>
        </p:txBody>
      </p:sp>
      <p:sp>
        <p:nvSpPr>
          <p:cNvPr id="6" name="TextBox 5"/>
          <p:cNvSpPr txBox="1"/>
          <p:nvPr/>
        </p:nvSpPr>
        <p:spPr>
          <a:xfrm>
            <a:off x="502920" y="530352"/>
            <a:ext cx="11155680" cy="640080"/>
          </a:xfrm>
          <a:prstGeom prst="rect">
            <a:avLst/>
          </a:prstGeom>
          <a:noFill/>
        </p:spPr>
        <p:txBody>
          <a:bodyPr wrap="square" anchor="t"/>
          <a:lstStyle/>
          <a:p>
            <a:pPr algn="l"/>
            <a:r>
              <a:rPr sz="2800" b="1">
                <a:solidFill>
                  <a:srgbClr val="F8FAFC"/>
                </a:solidFill>
                <a:latin typeface="Calibri"/>
              </a:rPr>
              <a:t>A Gaza product, inside a shipping software studio</a:t>
            </a:r>
          </a:p>
        </p:txBody>
      </p:sp>
      <p:sp>
        <p:nvSpPr>
          <p:cNvPr id="7" name="Rounded Rectangle 6"/>
          <p:cNvSpPr/>
          <p:nvPr/>
        </p:nvSpPr>
        <p:spPr>
          <a:xfrm>
            <a:off x="457200" y="1280160"/>
            <a:ext cx="5532120" cy="35204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17320"/>
            <a:ext cx="5074920" cy="274320"/>
          </a:xfrm>
          <a:prstGeom prst="rect">
            <a:avLst/>
          </a:prstGeom>
          <a:noFill/>
        </p:spPr>
        <p:txBody>
          <a:bodyPr wrap="square" anchor="t"/>
          <a:lstStyle/>
          <a:p>
            <a:pPr algn="l"/>
            <a:r>
              <a:rPr sz="1200" b="1">
                <a:solidFill>
                  <a:srgbClr val="4FD1C5"/>
                </a:solidFill>
                <a:latin typeface="Calibri"/>
              </a:rPr>
              <a:t>FOUNDER  /  PRODUCT LEAD</a:t>
            </a:r>
          </a:p>
        </p:txBody>
      </p:sp>
      <p:sp>
        <p:nvSpPr>
          <p:cNvPr id="9" name="TextBox 8"/>
          <p:cNvSpPr txBox="1"/>
          <p:nvPr/>
        </p:nvSpPr>
        <p:spPr>
          <a:xfrm>
            <a:off x="685800" y="1737360"/>
            <a:ext cx="5074920" cy="411480"/>
          </a:xfrm>
          <a:prstGeom prst="rect">
            <a:avLst/>
          </a:prstGeom>
          <a:noFill/>
        </p:spPr>
        <p:txBody>
          <a:bodyPr wrap="square" anchor="t"/>
          <a:lstStyle/>
          <a:p>
            <a:pPr algn="l"/>
            <a:r>
              <a:rPr sz="2200" b="1">
                <a:solidFill>
                  <a:srgbClr val="E8C56B"/>
                </a:solidFill>
                <a:latin typeface="Calibri"/>
              </a:rPr>
              <a:t>Israa Nael Hamad</a:t>
            </a:r>
          </a:p>
        </p:txBody>
      </p:sp>
      <p:sp>
        <p:nvSpPr>
          <p:cNvPr id="10" name="TextBox 9"/>
          <p:cNvSpPr txBox="1"/>
          <p:nvPr/>
        </p:nvSpPr>
        <p:spPr>
          <a:xfrm>
            <a:off x="685800" y="2194560"/>
            <a:ext cx="5074920" cy="365760"/>
          </a:xfrm>
          <a:prstGeom prst="rect">
            <a:avLst/>
          </a:prstGeom>
          <a:noFill/>
        </p:spPr>
        <p:txBody>
          <a:bodyPr wrap="square" anchor="t"/>
          <a:lstStyle/>
          <a:p>
            <a:pPr algn="l"/>
            <a:r>
              <a:rPr sz="1400" b="1">
                <a:solidFill>
                  <a:srgbClr val="F8FAFC"/>
                </a:solidFill>
                <a:latin typeface="Calibri"/>
              </a:rPr>
              <a:t>Software Engineering  ·  final year</a:t>
            </a:r>
          </a:p>
        </p:txBody>
      </p:sp>
      <p:sp>
        <p:nvSpPr>
          <p:cNvPr id="11" name="TextBox 10"/>
          <p:cNvSpPr txBox="1"/>
          <p:nvPr/>
        </p:nvSpPr>
        <p:spPr>
          <a:xfrm>
            <a:off x="685800" y="2651760"/>
            <a:ext cx="5074920" cy="1920240"/>
          </a:xfrm>
          <a:prstGeom prst="rect">
            <a:avLst/>
          </a:prstGeom>
          <a:noFill/>
        </p:spPr>
        <p:txBody>
          <a:bodyPr wrap="square" anchor="t"/>
          <a:lstStyle/>
          <a:p>
            <a:pPr algn="l"/>
            <a:r>
              <a:rPr sz="1400" b="0">
                <a:solidFill>
                  <a:srgbClr val="F8FAFC"/>
                </a:solidFill>
                <a:latin typeface="Calibri"/>
              </a:rPr>
              <a:t>University of Palestine, Gaza.
Owns product vision, merchant UX, bilingual (AR/EN) FinTech experience, and the Theme 4 narrative: phantom Excel profit vs SIM-swap takeover of the same files. Smart Profits is her product, brought into the studio as a core line.</a:t>
            </a:r>
          </a:p>
        </p:txBody>
      </p:sp>
      <p:sp>
        <p:nvSpPr>
          <p:cNvPr id="12" name="Rounded Rectangle 11"/>
          <p:cNvSpPr/>
          <p:nvPr/>
        </p:nvSpPr>
        <p:spPr>
          <a:xfrm>
            <a:off x="6172200" y="1280160"/>
            <a:ext cx="5532120" cy="35204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417320"/>
            <a:ext cx="5074920" cy="274320"/>
          </a:xfrm>
          <a:prstGeom prst="rect">
            <a:avLst/>
          </a:prstGeom>
          <a:noFill/>
        </p:spPr>
        <p:txBody>
          <a:bodyPr wrap="square" anchor="t"/>
          <a:lstStyle/>
          <a:p>
            <a:pPr algn="l"/>
            <a:r>
              <a:rPr sz="1200" b="1">
                <a:solidFill>
                  <a:srgbClr val="4FD1C5"/>
                </a:solidFill>
                <a:latin typeface="Calibri"/>
              </a:rPr>
              <a:t>PRINCIPAL  /  TECHNICAL CO-FOUNDER</a:t>
            </a:r>
          </a:p>
        </p:txBody>
      </p:sp>
      <p:sp>
        <p:nvSpPr>
          <p:cNvPr id="14" name="TextBox 13"/>
          <p:cNvSpPr txBox="1"/>
          <p:nvPr/>
        </p:nvSpPr>
        <p:spPr>
          <a:xfrm>
            <a:off x="6400800" y="1737360"/>
            <a:ext cx="5074920" cy="411480"/>
          </a:xfrm>
          <a:prstGeom prst="rect">
            <a:avLst/>
          </a:prstGeom>
          <a:noFill/>
        </p:spPr>
        <p:txBody>
          <a:bodyPr wrap="square" anchor="t"/>
          <a:lstStyle/>
          <a:p>
            <a:pPr algn="l"/>
            <a:r>
              <a:rPr sz="2200" b="1">
                <a:solidFill>
                  <a:srgbClr val="E8C56B"/>
                </a:solidFill>
                <a:latin typeface="Calibri"/>
              </a:rPr>
              <a:t>Mir Kashif</a:t>
            </a:r>
          </a:p>
        </p:txBody>
      </p:sp>
      <p:sp>
        <p:nvSpPr>
          <p:cNvPr id="15" name="TextBox 14"/>
          <p:cNvSpPr txBox="1"/>
          <p:nvPr/>
        </p:nvSpPr>
        <p:spPr>
          <a:xfrm>
            <a:off x="6400800" y="2194560"/>
            <a:ext cx="5074920" cy="365760"/>
          </a:xfrm>
          <a:prstGeom prst="rect">
            <a:avLst/>
          </a:prstGeom>
          <a:noFill/>
        </p:spPr>
        <p:txBody>
          <a:bodyPr wrap="square" anchor="t"/>
          <a:lstStyle/>
          <a:p>
            <a:pPr algn="l"/>
            <a:r>
              <a:rPr sz="1400" b="1">
                <a:solidFill>
                  <a:srgbClr val="F8FAFC"/>
                </a:solidFill>
                <a:latin typeface="Calibri"/>
              </a:rPr>
              <a:t>Bitsandbytesdude Software Agency</a:t>
            </a:r>
          </a:p>
        </p:txBody>
      </p:sp>
      <p:sp>
        <p:nvSpPr>
          <p:cNvPr id="16" name="TextBox 15"/>
          <p:cNvSpPr txBox="1"/>
          <p:nvPr/>
        </p:nvSpPr>
        <p:spPr>
          <a:xfrm>
            <a:off x="6400800" y="2651760"/>
            <a:ext cx="5074920" cy="1920240"/>
          </a:xfrm>
          <a:prstGeom prst="rect">
            <a:avLst/>
          </a:prstGeom>
          <a:noFill/>
        </p:spPr>
        <p:txBody>
          <a:bodyPr wrap="square" anchor="t"/>
          <a:lstStyle/>
          <a:p>
            <a:pPr algn="l"/>
            <a:r>
              <a:rPr sz="1400" b="0">
                <a:solidFill>
                  <a:srgbClr val="F8FAFC"/>
                </a:solidFill>
                <a:latin typeface="Calibri"/>
              </a:rPr>
              <a:t>Leads engineering through the studio: full-stack platforms, AI &amp; agent workflows, and cloud delivery. Smart Profits is being added to the Bitsandbytesdude product portfolio — Next.js architecture, agent orchestration, and Nokia NaC integration under one shipping team.</a:t>
            </a:r>
          </a:p>
        </p:txBody>
      </p:sp>
      <p:sp>
        <p:nvSpPr>
          <p:cNvPr id="17" name="Rounded Rectangle 16"/>
          <p:cNvSpPr/>
          <p:nvPr/>
        </p:nvSpPr>
        <p:spPr>
          <a:xfrm>
            <a:off x="457200" y="4937760"/>
            <a:ext cx="11247120" cy="12344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074920"/>
            <a:ext cx="10972800" cy="960120"/>
          </a:xfrm>
          <a:prstGeom prst="rect">
            <a:avLst/>
          </a:prstGeom>
          <a:noFill/>
        </p:spPr>
        <p:txBody>
          <a:bodyPr wrap="square" anchor="t"/>
          <a:lstStyle/>
          <a:p>
            <a:pPr algn="l"/>
            <a:r>
              <a:rPr sz="1500" b="0">
                <a:solidFill>
                  <a:srgbClr val="F8FAFC"/>
                </a:solidFill>
                <a:latin typeface="Calibri"/>
              </a:rPr>
              <a:t>Studio: Bitsandbytesdude — high-performance software, AI automation and product systems.
https://bitsandbytesdude.vercel.app/   ·   bitsandbytesdude@gmail.com   ·   Remote-first, MENA-rooted</a:t>
            </a:r>
          </a:p>
        </p:txBody>
      </p:sp>
      <p:sp>
        <p:nvSpPr>
          <p:cNvPr id="19" name="TextBox 18"/>
          <p:cNvSpPr txBox="1"/>
          <p:nvPr/>
        </p:nvSpPr>
        <p:spPr>
          <a:xfrm>
            <a:off x="457200" y="6510528"/>
            <a:ext cx="7315200" cy="256032"/>
          </a:xfrm>
          <a:prstGeom prst="rect">
            <a:avLst/>
          </a:prstGeom>
          <a:noFill/>
        </p:spPr>
        <p:txBody>
          <a:bodyPr wrap="square" anchor="t"/>
          <a:lstStyle/>
          <a:p>
            <a:pPr algn="l"/>
            <a:r>
              <a:rPr sz="1100" b="0">
                <a:solidFill>
                  <a:srgbClr val="94A3B8"/>
                </a:solidFill>
                <a:latin typeface="Calibri"/>
              </a:rPr>
              <a:t>Smart Profits  ·  GSMA MENA Ignite  ·  Theme 4</a:t>
            </a:r>
          </a:p>
        </p:txBody>
      </p:sp>
      <p:sp>
        <p:nvSpPr>
          <p:cNvPr id="20" name="TextBox 19"/>
          <p:cNvSpPr txBox="1"/>
          <p:nvPr/>
        </p:nvSpPr>
        <p:spPr>
          <a:xfrm>
            <a:off x="10424160" y="6510528"/>
            <a:ext cx="1280160" cy="256032"/>
          </a:xfrm>
          <a:prstGeom prst="rect">
            <a:avLst/>
          </a:prstGeom>
          <a:noFill/>
        </p:spPr>
        <p:txBody>
          <a:bodyPr wrap="square" anchor="t"/>
          <a:lstStyle/>
          <a:p>
            <a:pPr algn="r"/>
            <a:r>
              <a:rPr sz="1100" b="0">
                <a:solidFill>
                  <a:srgbClr val="94A3B8"/>
                </a:solidFill>
                <a:latin typeface="Calibri"/>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91695" cy="18288"/>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0"/>
            <a:ext cx="10972800" cy="320040"/>
          </a:xfrm>
          <a:prstGeom prst="rect">
            <a:avLst/>
          </a:prstGeom>
          <a:noFill/>
        </p:spPr>
        <p:txBody>
          <a:bodyPr wrap="square" anchor="t"/>
          <a:lstStyle/>
          <a:p>
            <a:pPr algn="l"/>
            <a:r>
              <a:rPr sz="1400" b="1">
                <a:solidFill>
                  <a:srgbClr val="4FD1C5"/>
                </a:solidFill>
                <a:latin typeface="Calibri"/>
              </a:rPr>
              <a:t>THE ASK</a:t>
            </a:r>
          </a:p>
        </p:txBody>
      </p:sp>
      <p:sp>
        <p:nvSpPr>
          <p:cNvPr id="6" name="TextBox 5"/>
          <p:cNvSpPr txBox="1"/>
          <p:nvPr/>
        </p:nvSpPr>
        <p:spPr>
          <a:xfrm>
            <a:off x="502920" y="1965960"/>
            <a:ext cx="11155680" cy="1188720"/>
          </a:xfrm>
          <a:prstGeom prst="rect">
            <a:avLst/>
          </a:prstGeom>
          <a:noFill/>
        </p:spPr>
        <p:txBody>
          <a:bodyPr wrap="square" anchor="t"/>
          <a:lstStyle/>
          <a:p>
            <a:pPr algn="l"/>
            <a:r>
              <a:rPr sz="3600" b="1">
                <a:solidFill>
                  <a:srgbClr val="F8FAFC"/>
                </a:solidFill>
                <a:latin typeface="Calibri"/>
              </a:rPr>
              <a:t>Advance Smart Profits under Theme 4.</a:t>
            </a:r>
          </a:p>
        </p:txBody>
      </p:sp>
      <p:sp>
        <p:nvSpPr>
          <p:cNvPr id="7" name="TextBox 6"/>
          <p:cNvSpPr txBox="1"/>
          <p:nvPr/>
        </p:nvSpPr>
        <p:spPr>
          <a:xfrm>
            <a:off x="502920" y="3246120"/>
            <a:ext cx="10972800" cy="1097280"/>
          </a:xfrm>
          <a:prstGeom prst="rect">
            <a:avLst/>
          </a:prstGeom>
          <a:noFill/>
        </p:spPr>
        <p:txBody>
          <a:bodyPr wrap="square" anchor="t"/>
          <a:lstStyle/>
          <a:p>
            <a:pPr algn="l"/>
            <a:r>
              <a:rPr sz="1800" b="0">
                <a:solidFill>
                  <a:srgbClr val="94A3B8"/>
                </a:solidFill>
                <a:latin typeface="Calibri"/>
              </a:rPr>
              <a:t>A real merchant SaaS. A real AI Agent. Real CAMARA APIs through Nokia Network-as-Code.
Next: NaC simulator freeze demo  ·  path to MWC Doha 2026.</a:t>
            </a:r>
          </a:p>
        </p:txBody>
      </p:sp>
      <p:sp>
        <p:nvSpPr>
          <p:cNvPr id="8" name="Rounded Rectangle 7"/>
          <p:cNvSpPr/>
          <p:nvPr/>
        </p:nvSpPr>
        <p:spPr>
          <a:xfrm>
            <a:off x="502920" y="4663440"/>
            <a:ext cx="3566160" cy="457200"/>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4709160"/>
            <a:ext cx="3566160" cy="384048"/>
          </a:xfrm>
          <a:prstGeom prst="rect">
            <a:avLst/>
          </a:prstGeom>
          <a:noFill/>
        </p:spPr>
        <p:txBody>
          <a:bodyPr wrap="square" anchor="t"/>
          <a:lstStyle/>
          <a:p>
            <a:pPr algn="ctr"/>
            <a:r>
              <a:rPr sz="1300" b="1">
                <a:solidFill>
                  <a:srgbClr val="4FD1C5"/>
                </a:solidFill>
                <a:latin typeface="Calibri"/>
              </a:rPr>
              <a:t>CAMARA via Nokia NaC — used</a:t>
            </a:r>
          </a:p>
        </p:txBody>
      </p:sp>
      <p:sp>
        <p:nvSpPr>
          <p:cNvPr id="10" name="Rounded Rectangle 9"/>
          <p:cNvSpPr/>
          <p:nvPr/>
        </p:nvSpPr>
        <p:spPr>
          <a:xfrm>
            <a:off x="4251959" y="4663440"/>
            <a:ext cx="3566160" cy="457200"/>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59" y="4709160"/>
            <a:ext cx="3566160" cy="384048"/>
          </a:xfrm>
          <a:prstGeom prst="rect">
            <a:avLst/>
          </a:prstGeom>
          <a:noFill/>
        </p:spPr>
        <p:txBody>
          <a:bodyPr wrap="square" anchor="t"/>
          <a:lstStyle/>
          <a:p>
            <a:pPr algn="ctr"/>
            <a:r>
              <a:rPr sz="1300" b="1">
                <a:solidFill>
                  <a:srgbClr val="4FD1C5"/>
                </a:solidFill>
                <a:latin typeface="Calibri"/>
              </a:rPr>
              <a:t>AI Agent orchestration — used</a:t>
            </a:r>
          </a:p>
        </p:txBody>
      </p:sp>
      <p:sp>
        <p:nvSpPr>
          <p:cNvPr id="12" name="Rounded Rectangle 11"/>
          <p:cNvSpPr/>
          <p:nvPr/>
        </p:nvSpPr>
        <p:spPr>
          <a:xfrm>
            <a:off x="8000998" y="4663440"/>
            <a:ext cx="3566160" cy="457200"/>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0998" y="4709160"/>
            <a:ext cx="3566160" cy="384048"/>
          </a:xfrm>
          <a:prstGeom prst="rect">
            <a:avLst/>
          </a:prstGeom>
          <a:noFill/>
        </p:spPr>
        <p:txBody>
          <a:bodyPr wrap="square" anchor="t"/>
          <a:lstStyle/>
          <a:p>
            <a:pPr algn="ctr"/>
            <a:r>
              <a:rPr sz="1300" b="1">
                <a:solidFill>
                  <a:srgbClr val="4FD1C5"/>
                </a:solidFill>
                <a:latin typeface="Calibri"/>
              </a:rPr>
              <a:t>MENA inclusion — AR + EN</a:t>
            </a:r>
          </a:p>
        </p:txBody>
      </p:sp>
      <p:sp>
        <p:nvSpPr>
          <p:cNvPr id="14" name="TextBox 13"/>
          <p:cNvSpPr txBox="1"/>
          <p:nvPr/>
        </p:nvSpPr>
        <p:spPr>
          <a:xfrm>
            <a:off x="502920" y="5394960"/>
            <a:ext cx="10972800" cy="640080"/>
          </a:xfrm>
          <a:prstGeom prst="rect">
            <a:avLst/>
          </a:prstGeom>
          <a:noFill/>
        </p:spPr>
        <p:txBody>
          <a:bodyPr wrap="square" anchor="t"/>
          <a:lstStyle/>
          <a:p>
            <a:pPr algn="l"/>
            <a:r>
              <a:rPr sz="1400" b="0">
                <a:solidFill>
                  <a:srgbClr val="E8C56B"/>
                </a:solidFill>
                <a:latin typeface="Calibri"/>
              </a:rPr>
              <a:t>Israa Nael Hamad  ·  Mir Kashif  ·  Bitsandbytesdude  ·  University of Palestine, Gaza</a:t>
            </a:r>
          </a:p>
        </p:txBody>
      </p:sp>
      <p:sp>
        <p:nvSpPr>
          <p:cNvPr id="15" name="TextBox 14"/>
          <p:cNvSpPr txBox="1"/>
          <p:nvPr/>
        </p:nvSpPr>
        <p:spPr>
          <a:xfrm>
            <a:off x="457200" y="6510528"/>
            <a:ext cx="7315200" cy="256032"/>
          </a:xfrm>
          <a:prstGeom prst="rect">
            <a:avLst/>
          </a:prstGeom>
          <a:noFill/>
        </p:spPr>
        <p:txBody>
          <a:bodyPr wrap="square" anchor="t"/>
          <a:lstStyle/>
          <a:p>
            <a:pPr algn="l"/>
            <a:r>
              <a:rPr sz="1100" b="0">
                <a:solidFill>
                  <a:srgbClr val="94A3B8"/>
                </a:solidFill>
                <a:latin typeface="Calibri"/>
              </a:rPr>
              <a:t>Smart Profits  ·  GSMA MENA Ignite  ·  Theme 4</a:t>
            </a:r>
          </a:p>
        </p:txBody>
      </p:sp>
      <p:sp>
        <p:nvSpPr>
          <p:cNvPr id="16" name="TextBox 15"/>
          <p:cNvSpPr txBox="1"/>
          <p:nvPr/>
        </p:nvSpPr>
        <p:spPr>
          <a:xfrm>
            <a:off x="10424160" y="6510528"/>
            <a:ext cx="1280160" cy="256032"/>
          </a:xfrm>
          <a:prstGeom prst="rect">
            <a:avLst/>
          </a:prstGeom>
          <a:noFill/>
        </p:spPr>
        <p:txBody>
          <a:bodyPr wrap="square" anchor="t"/>
          <a:lstStyle/>
          <a:p>
            <a:pPr algn="r"/>
            <a:r>
              <a:rPr sz="1100" b="0">
                <a:solidFill>
                  <a:srgbClr val="94A3B8"/>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